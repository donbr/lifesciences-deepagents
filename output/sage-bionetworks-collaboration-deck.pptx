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22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12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productive initial meeting. This deck summarizes what we heard, what we've built, and a concrete path forward for collaboration. The core insight from our conversation: Sage lacks a baseline process for evaluating LLM tools apples-to-apples — and we believe we've built the foundation for that baseline.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themes emerged consistently across the conversation. They shaped how we structured this follow-up — moving from technical capabilities to researcher-centric value propositions.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Sage articulated. Without a baseline, every new LLM tool evaluation starts from scratch. Our competency questions catalog and quality framework provide the missing foundation.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reframe 'competency questions' as 'research evaluation benchmarks' — same rigor, business-friendly language. Each benchmark has a known answer path expressed as entity CURIEs and relationship types. This is the missing test suite for LLM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moves evaluation from 'does it work?' to 'how well does it work across 10 specific dimensions?' Dimensions 1-4 are non-negotiable safety dimensions — hallucination risk alone can disqualify a tool. Dimensions 5-10 measure depth and utility.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has a dedicated specialist agent with only the tools it needs — this is tool isolation, not a monolithic prompt. The protocol transforms a fuzzy natural-language question into a structured, validated knowledge graph. 13 biomedical APIs are orchestrated across the 7 phases.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production results, not cherry-picked demos — exactly the kind of reproducible evidence Sage asked for. Zero hallucinations means every entity, relationship, and trial ID was verified against primary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was chosen because NF1 is core to Sage BioNetworks' mission. The platform discovered three complementary cardioprotective strategies — not just one. It then grounded findings against 8 Synapse.org datasets, creating a direct bridge between our validated knowledge graph and Sage's data repository.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personas came directly from the Sage conversation. Each has different needs, different benchmark questions, and different definitions of 'useful.' The platform serves all three through the same protocol.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propositions map to Sage's expressed needs. The first addresses the baseline gap directly. The second shows how our platform enhances Sage's existing data assets. The third addresses the fragmentation problem.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grading is what separates a validated knowledge graph from a hallucinated one. Every claim in our output gets an L1-L4 tag with a numeric confidence range. Sage's Synapse datasets create a unique upgrade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designed to be lightweight and deliverable-driven. Phase 1 proves value with Sage's own data. Phase 2 expands the test suite with Sage domain expertise. Phase 3 puts real researchers in front of the tool.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is the most important — we need Sage to identify which questions matter to them. Section 3 is a live demo, not a recorded one — demonstrating the protocol's reproducibility in real time.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productive conversation. We believe the combination of Sage's domain expertise and data assets with our structured validation platform creates something neither organization could build alone.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67623" y="1598712"/>
            <a:ext cx="7608755" cy="428625"/>
          </a:xfrm>
          <a:prstGeom prst="rect">
            <a:avLst/>
          </a:prstGeom>
          <a:noFill/>
          <a:ln/>
        </p:spPr>
        <p:txBody>
          <a:bodyPr wrap="square" lIns="0" tIns="0" rIns="0" bIns="0" rtlCol="0" anchor="t"/>
          <a:lstStyle/>
          <a:p>
            <a:pPr marL="0" indent="0" algn="ctr">
              <a:spcAft>
                <a:spcPts val="800"/>
              </a:spcAft>
              <a:buNone/>
            </a:pPr>
            <a:r>
              <a:rPr lang="en-US" sz="3000" b="1" dirty="0">
                <a:solidFill>
                  <a:srgbClr val="FFFFFF"/>
                </a:solidFill>
                <a:latin typeface="Arial" pitchFamily="34" charset="0"/>
                <a:ea typeface="Arial" pitchFamily="34" charset="-122"/>
                <a:cs typeface="Arial" pitchFamily="34" charset="-120"/>
              </a:rPr>
              <a:t>Structured Validation for Life Sciences AI</a:t>
            </a:r>
            <a:endParaRPr lang="en-US" sz="3000" dirty="0"/>
          </a:p>
        </p:txBody>
      </p:sp>
      <p:sp>
        <p:nvSpPr>
          <p:cNvPr id="3" name="Text 1"/>
          <p:cNvSpPr/>
          <p:nvPr/>
        </p:nvSpPr>
        <p:spPr>
          <a:xfrm>
            <a:off x="4064050" y="2128838"/>
            <a:ext cx="1015901" cy="38100"/>
          </a:xfrm>
          <a:prstGeom prst="rect">
            <a:avLst/>
          </a:prstGeom>
          <a:solidFill>
            <a:srgbClr val="2E8B8B"/>
          </a:solidFill>
          <a:ln/>
        </p:spPr>
        <p:txBody>
          <a:bodyPr wrap="square" rtlCol="0" anchor="ctr"/>
          <a:lstStyle/>
          <a:p>
            <a:pPr marL="0" indent="0">
              <a:buNone/>
            </a:pPr>
            <a:endParaRPr lang="en-US" dirty="0"/>
          </a:p>
        </p:txBody>
      </p:sp>
      <p:sp>
        <p:nvSpPr>
          <p:cNvPr id="4" name="Text 2"/>
          <p:cNvSpPr/>
          <p:nvPr/>
        </p:nvSpPr>
        <p:spPr>
          <a:xfrm>
            <a:off x="3322345" y="2370088"/>
            <a:ext cx="2499161" cy="238125"/>
          </a:xfrm>
          <a:prstGeom prst="rect">
            <a:avLst/>
          </a:prstGeom>
          <a:noFill/>
          <a:ln/>
        </p:spPr>
        <p:txBody>
          <a:bodyPr wrap="square" lIns="0" tIns="0" rIns="0" bIns="0" rtlCol="0" anchor="t"/>
          <a:lstStyle/>
          <a:p>
            <a:pPr marL="0" indent="0" algn="ctr">
              <a:spcBef>
                <a:spcPts val="1600"/>
              </a:spcBef>
              <a:buNone/>
            </a:pPr>
            <a:r>
              <a:rPr lang="en-US" sz="1600" dirty="0">
                <a:solidFill>
                  <a:srgbClr val="94A3B8"/>
                </a:solidFill>
                <a:latin typeface="Arial" pitchFamily="34" charset="0"/>
                <a:ea typeface="Arial" pitchFamily="34" charset="-122"/>
                <a:cs typeface="Arial" pitchFamily="34" charset="-120"/>
              </a:rPr>
              <a:t>A Collaboration Framework</a:t>
            </a:r>
            <a:endParaRPr lang="en-US" sz="1600" dirty="0"/>
          </a:p>
        </p:txBody>
      </p:sp>
      <p:sp>
        <p:nvSpPr>
          <p:cNvPr id="5" name="Text 3"/>
          <p:cNvSpPr/>
          <p:nvPr/>
        </p:nvSpPr>
        <p:spPr>
          <a:xfrm>
            <a:off x="3477186" y="2684413"/>
            <a:ext cx="2189479" cy="200025"/>
          </a:xfrm>
          <a:prstGeom prst="rect">
            <a:avLst/>
          </a:prstGeom>
          <a:noFill/>
          <a:ln/>
        </p:spPr>
        <p:txBody>
          <a:bodyPr wrap="square" lIns="0" tIns="0" rIns="0" bIns="0" rtlCol="0" anchor="t"/>
          <a:lstStyle/>
          <a:p>
            <a:pPr marL="0" indent="0" algn="ctr">
              <a:spcBef>
                <a:spcPts val="600"/>
              </a:spcBef>
              <a:buNone/>
            </a:pPr>
            <a:r>
              <a:rPr lang="en-US" sz="1300" dirty="0">
                <a:solidFill>
                  <a:srgbClr val="94A3B8"/>
                </a:solidFill>
                <a:latin typeface="Arial" pitchFamily="34" charset="0"/>
                <a:ea typeface="Arial" pitchFamily="34" charset="-122"/>
                <a:cs typeface="Arial" pitchFamily="34" charset="-120"/>
              </a:rPr>
              <a:t>Sage BioNetworks Follow-Up</a:t>
            </a:r>
            <a:endParaRPr lang="en-US" sz="1300" dirty="0"/>
          </a:p>
        </p:txBody>
      </p:sp>
      <p:sp>
        <p:nvSpPr>
          <p:cNvPr id="6" name="Text 4"/>
          <p:cNvSpPr/>
          <p:nvPr/>
        </p:nvSpPr>
        <p:spPr>
          <a:xfrm>
            <a:off x="3833167" y="3392388"/>
            <a:ext cx="1477667" cy="152400"/>
          </a:xfrm>
          <a:prstGeom prst="rect">
            <a:avLst/>
          </a:prstGeom>
          <a:noFill/>
          <a:ln/>
        </p:spPr>
        <p:txBody>
          <a:bodyPr wrap="square" lIns="0" tIns="0" rIns="0" bIns="0" rtlCol="0" anchor="t"/>
          <a:lstStyle/>
          <a:p>
            <a:pPr marL="0" indent="0" algn="ctr">
              <a:spcBef>
                <a:spcPts val="4000"/>
              </a:spcBef>
              <a:buNone/>
            </a:pPr>
            <a:r>
              <a:rPr lang="en-US" sz="1100" dirty="0">
                <a:solidFill>
                  <a:srgbClr val="6B7280"/>
                </a:solidFill>
                <a:latin typeface="Arial" pitchFamily="34" charset="0"/>
                <a:ea typeface="Arial" pitchFamily="34" charset="-122"/>
                <a:cs typeface="Arial" pitchFamily="34" charset="-120"/>
              </a:rPr>
              <a:t>Don B. | February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What We Heard</a:t>
            </a:r>
            <a:endParaRPr lang="en-US" sz="2200" dirty="0"/>
          </a:p>
        </p:txBody>
      </p:sp>
      <p:sp>
        <p:nvSpPr>
          <p:cNvPr id="4" name="Text 2"/>
          <p:cNvSpPr/>
          <p:nvPr/>
        </p:nvSpPr>
        <p:spPr>
          <a:xfrm>
            <a:off x="355550" y="1117253"/>
            <a:ext cx="4140250" cy="1860798"/>
          </a:xfrm>
          <a:prstGeom prst="rect">
            <a:avLst/>
          </a:prstGeom>
          <a:solidFill>
            <a:srgbClr val="F0F2F5"/>
          </a:solidFill>
          <a:ln/>
        </p:spPr>
        <p:txBody>
          <a:bodyPr wrap="square" rtlCol="0" anchor="ctr"/>
          <a:lstStyle/>
          <a:p>
            <a:pPr marL="0" indent="0">
              <a:buNone/>
            </a:pPr>
            <a:endParaRPr lang="en-US" dirty="0"/>
          </a:p>
        </p:txBody>
      </p:sp>
      <p:sp>
        <p:nvSpPr>
          <p:cNvPr id="5" name="Shape 3"/>
          <p:cNvSpPr/>
          <p:nvPr/>
        </p:nvSpPr>
        <p:spPr>
          <a:xfrm>
            <a:off x="379363" y="1117253"/>
            <a:ext cx="0" cy="1860798"/>
          </a:xfrm>
          <a:prstGeom prst="line">
            <a:avLst/>
          </a:prstGeom>
          <a:noFill/>
          <a:ln w="47625">
            <a:solidFill>
              <a:srgbClr val="2E8B8B"/>
            </a:solidFill>
            <a:prstDash val="solid"/>
          </a:ln>
        </p:spPr>
        <p:txBody>
          <a:bodyPr/>
          <a:lstStyle/>
          <a:p>
            <a:endParaRPr lang="en-US"/>
          </a:p>
        </p:txBody>
      </p:sp>
      <p:sp>
        <p:nvSpPr>
          <p:cNvPr id="6" name="Text 4"/>
          <p:cNvSpPr/>
          <p:nvPr/>
        </p:nvSpPr>
        <p:spPr>
          <a:xfrm>
            <a:off x="580876" y="1269653"/>
            <a:ext cx="3811968" cy="152400"/>
          </a:xfrm>
          <a:prstGeom prst="rect">
            <a:avLst/>
          </a:prstGeom>
          <a:noFill/>
          <a:ln/>
        </p:spPr>
        <p:txBody>
          <a:bodyPr wrap="square" lIns="0" tIns="0" rIns="0" bIns="0" rtlCol="0" anchor="t"/>
          <a:lstStyle/>
          <a:p>
            <a:pPr marL="0" indent="0" algn="l">
              <a:spcAft>
                <a:spcPts val="600"/>
              </a:spcAft>
              <a:buNone/>
            </a:pPr>
            <a:r>
              <a:rPr lang="en-US" sz="1100" b="1" dirty="0">
                <a:solidFill>
                  <a:srgbClr val="1B2A4A"/>
                </a:solidFill>
                <a:latin typeface="Arial" pitchFamily="34" charset="0"/>
                <a:ea typeface="Arial" pitchFamily="34" charset="-122"/>
                <a:cs typeface="Arial" pitchFamily="34" charset="-120"/>
              </a:rPr>
              <a:t>No Baseline Exists</a:t>
            </a:r>
            <a:endParaRPr lang="en-US" sz="1100" dirty="0"/>
          </a:p>
        </p:txBody>
      </p:sp>
      <p:sp>
        <p:nvSpPr>
          <p:cNvPr id="7" name="Text 5"/>
          <p:cNvSpPr/>
          <p:nvPr/>
        </p:nvSpPr>
        <p:spPr>
          <a:xfrm>
            <a:off x="580876" y="1498253"/>
            <a:ext cx="3811968" cy="453182"/>
          </a:xfrm>
          <a:prstGeom prst="rect">
            <a:avLst/>
          </a:prstGeom>
          <a:noFill/>
          <a:ln/>
        </p:spPr>
        <p:txBody>
          <a:bodyPr wrap="square" lIns="0" tIns="0" rIns="0" bIns="0" rtlCol="0" anchor="t"/>
          <a:lstStyle/>
          <a:p>
            <a:pPr marL="0" indent="0" algn="l">
              <a:lnSpc>
                <a:spcPts val="1190"/>
              </a:lnSpc>
              <a:buNone/>
            </a:pPr>
            <a:r>
              <a:rPr lang="en-US" sz="850" dirty="0">
                <a:solidFill>
                  <a:srgbClr val="374151"/>
                </a:solidFill>
                <a:latin typeface="Arial" pitchFamily="34" charset="0"/>
                <a:ea typeface="Arial" pitchFamily="34" charset="-122"/>
                <a:cs typeface="Arial" pitchFamily="34" charset="-120"/>
              </a:rPr>
              <a:t>There is no standardized process for comparing LLM tool outputs in life sciences. Teams evaluate tools ad hoc, making procurement and adoption decisions on anecdote rather than evidence.</a:t>
            </a:r>
            <a:endParaRPr lang="en-US" sz="850" dirty="0"/>
          </a:p>
        </p:txBody>
      </p:sp>
      <p:sp>
        <p:nvSpPr>
          <p:cNvPr id="8" name="Text 6"/>
          <p:cNvSpPr/>
          <p:nvPr/>
        </p:nvSpPr>
        <p:spPr>
          <a:xfrm>
            <a:off x="4648200" y="1117253"/>
            <a:ext cx="4140250" cy="1860798"/>
          </a:xfrm>
          <a:prstGeom prst="rect">
            <a:avLst/>
          </a:prstGeom>
          <a:solidFill>
            <a:srgbClr val="F0F2F5"/>
          </a:solidFill>
          <a:ln/>
        </p:spPr>
        <p:txBody>
          <a:bodyPr wrap="square" rtlCol="0" anchor="ctr"/>
          <a:lstStyle/>
          <a:p>
            <a:pPr marL="0" indent="0">
              <a:buNone/>
            </a:pPr>
            <a:endParaRPr lang="en-US" dirty="0"/>
          </a:p>
        </p:txBody>
      </p:sp>
      <p:sp>
        <p:nvSpPr>
          <p:cNvPr id="9" name="Shape 7"/>
          <p:cNvSpPr/>
          <p:nvPr/>
        </p:nvSpPr>
        <p:spPr>
          <a:xfrm>
            <a:off x="4672013" y="1117253"/>
            <a:ext cx="0" cy="1860798"/>
          </a:xfrm>
          <a:prstGeom prst="line">
            <a:avLst/>
          </a:prstGeom>
          <a:noFill/>
          <a:ln w="47625">
            <a:solidFill>
              <a:srgbClr val="2E8B8B"/>
            </a:solidFill>
            <a:prstDash val="solid"/>
          </a:ln>
        </p:spPr>
        <p:txBody>
          <a:bodyPr/>
          <a:lstStyle/>
          <a:p>
            <a:endParaRPr lang="en-US"/>
          </a:p>
        </p:txBody>
      </p:sp>
      <p:sp>
        <p:nvSpPr>
          <p:cNvPr id="10" name="Text 8"/>
          <p:cNvSpPr/>
          <p:nvPr/>
        </p:nvSpPr>
        <p:spPr>
          <a:xfrm>
            <a:off x="4873526" y="1269653"/>
            <a:ext cx="3811968" cy="152400"/>
          </a:xfrm>
          <a:prstGeom prst="rect">
            <a:avLst/>
          </a:prstGeom>
          <a:noFill/>
          <a:ln/>
        </p:spPr>
        <p:txBody>
          <a:bodyPr wrap="square" lIns="0" tIns="0" rIns="0" bIns="0" rtlCol="0" anchor="t"/>
          <a:lstStyle/>
          <a:p>
            <a:pPr marL="0" indent="0" algn="l">
              <a:spcAft>
                <a:spcPts val="600"/>
              </a:spcAft>
              <a:buNone/>
            </a:pPr>
            <a:r>
              <a:rPr lang="en-US" sz="1100" b="1" dirty="0">
                <a:solidFill>
                  <a:srgbClr val="1B2A4A"/>
                </a:solidFill>
                <a:latin typeface="Arial" pitchFamily="34" charset="0"/>
                <a:ea typeface="Arial" pitchFamily="34" charset="-122"/>
                <a:cs typeface="Arial" pitchFamily="34" charset="-120"/>
              </a:rPr>
              <a:t>Use Cases Must Be Persona-Driven</a:t>
            </a:r>
            <a:endParaRPr lang="en-US" sz="1100" dirty="0"/>
          </a:p>
        </p:txBody>
      </p:sp>
      <p:sp>
        <p:nvSpPr>
          <p:cNvPr id="11" name="Text 9"/>
          <p:cNvSpPr/>
          <p:nvPr/>
        </p:nvSpPr>
        <p:spPr>
          <a:xfrm>
            <a:off x="4873526" y="1498253"/>
            <a:ext cx="3811968" cy="453182"/>
          </a:xfrm>
          <a:prstGeom prst="rect">
            <a:avLst/>
          </a:prstGeom>
          <a:noFill/>
          <a:ln/>
        </p:spPr>
        <p:txBody>
          <a:bodyPr wrap="square" lIns="0" tIns="0" rIns="0" bIns="0" rtlCol="0" anchor="t"/>
          <a:lstStyle/>
          <a:p>
            <a:pPr marL="0" indent="0" algn="l">
              <a:lnSpc>
                <a:spcPts val="1190"/>
              </a:lnSpc>
              <a:buNone/>
            </a:pPr>
            <a:r>
              <a:rPr lang="en-US" sz="850" dirty="0">
                <a:solidFill>
                  <a:srgbClr val="374151"/>
                </a:solidFill>
                <a:latin typeface="Arial" pitchFamily="34" charset="0"/>
                <a:ea typeface="Arial" pitchFamily="34" charset="-122"/>
                <a:cs typeface="Arial" pitchFamily="34" charset="-120"/>
              </a:rPr>
              <a:t>Different researchers need different things. A trainee learning pathway biology has fundamentally different needs than a PI orchestrating a multi-site collaboration.</a:t>
            </a:r>
            <a:endParaRPr lang="en-US" sz="850" dirty="0"/>
          </a:p>
        </p:txBody>
      </p:sp>
      <p:sp>
        <p:nvSpPr>
          <p:cNvPr id="12" name="Text 10"/>
          <p:cNvSpPr/>
          <p:nvPr/>
        </p:nvSpPr>
        <p:spPr>
          <a:xfrm>
            <a:off x="355550" y="3079552"/>
            <a:ext cx="4140250" cy="1860798"/>
          </a:xfrm>
          <a:prstGeom prst="rect">
            <a:avLst/>
          </a:prstGeom>
          <a:solidFill>
            <a:srgbClr val="F0F2F5"/>
          </a:solidFill>
          <a:ln/>
        </p:spPr>
        <p:txBody>
          <a:bodyPr wrap="square" rtlCol="0" anchor="ctr"/>
          <a:lstStyle/>
          <a:p>
            <a:pPr marL="0" indent="0">
              <a:buNone/>
            </a:pPr>
            <a:endParaRPr lang="en-US" dirty="0"/>
          </a:p>
        </p:txBody>
      </p:sp>
      <p:sp>
        <p:nvSpPr>
          <p:cNvPr id="13" name="Shape 11"/>
          <p:cNvSpPr/>
          <p:nvPr/>
        </p:nvSpPr>
        <p:spPr>
          <a:xfrm>
            <a:off x="379363" y="3079552"/>
            <a:ext cx="0" cy="1860798"/>
          </a:xfrm>
          <a:prstGeom prst="line">
            <a:avLst/>
          </a:prstGeom>
          <a:noFill/>
          <a:ln w="47625">
            <a:solidFill>
              <a:srgbClr val="2E8B8B"/>
            </a:solidFill>
            <a:prstDash val="solid"/>
          </a:ln>
        </p:spPr>
        <p:txBody>
          <a:bodyPr/>
          <a:lstStyle/>
          <a:p>
            <a:endParaRPr lang="en-US"/>
          </a:p>
        </p:txBody>
      </p:sp>
      <p:sp>
        <p:nvSpPr>
          <p:cNvPr id="14" name="Text 12"/>
          <p:cNvSpPr/>
          <p:nvPr/>
        </p:nvSpPr>
        <p:spPr>
          <a:xfrm>
            <a:off x="580876" y="3231952"/>
            <a:ext cx="3811968" cy="152400"/>
          </a:xfrm>
          <a:prstGeom prst="rect">
            <a:avLst/>
          </a:prstGeom>
          <a:noFill/>
          <a:ln/>
        </p:spPr>
        <p:txBody>
          <a:bodyPr wrap="square" lIns="0" tIns="0" rIns="0" bIns="0" rtlCol="0" anchor="t"/>
          <a:lstStyle/>
          <a:p>
            <a:pPr marL="0" indent="0" algn="l">
              <a:spcAft>
                <a:spcPts val="600"/>
              </a:spcAft>
              <a:buNone/>
            </a:pPr>
            <a:r>
              <a:rPr lang="en-US" sz="1100" b="1" dirty="0">
                <a:solidFill>
                  <a:srgbClr val="1B2A4A"/>
                </a:solidFill>
                <a:latin typeface="Arial" pitchFamily="34" charset="0"/>
                <a:ea typeface="Arial" pitchFamily="34" charset="-122"/>
                <a:cs typeface="Arial" pitchFamily="34" charset="-120"/>
              </a:rPr>
              <a:t>Structured Testing Matters</a:t>
            </a:r>
            <a:endParaRPr lang="en-US" sz="1100" dirty="0"/>
          </a:p>
        </p:txBody>
      </p:sp>
      <p:sp>
        <p:nvSpPr>
          <p:cNvPr id="15" name="Text 13"/>
          <p:cNvSpPr/>
          <p:nvPr/>
        </p:nvSpPr>
        <p:spPr>
          <a:xfrm>
            <a:off x="580876" y="3460552"/>
            <a:ext cx="3811968" cy="453182"/>
          </a:xfrm>
          <a:prstGeom prst="rect">
            <a:avLst/>
          </a:prstGeom>
          <a:noFill/>
          <a:ln/>
        </p:spPr>
        <p:txBody>
          <a:bodyPr wrap="square" lIns="0" tIns="0" rIns="0" bIns="0" rtlCol="0" anchor="t"/>
          <a:lstStyle/>
          <a:p>
            <a:pPr marL="0" indent="0" algn="l">
              <a:lnSpc>
                <a:spcPts val="1190"/>
              </a:lnSpc>
              <a:buNone/>
            </a:pPr>
            <a:r>
              <a:rPr lang="en-US" sz="850" dirty="0">
                <a:solidFill>
                  <a:srgbClr val="374151"/>
                </a:solidFill>
                <a:latin typeface="Arial" pitchFamily="34" charset="0"/>
                <a:ea typeface="Arial" pitchFamily="34" charset="-122"/>
                <a:cs typeface="Arial" pitchFamily="34" charset="-120"/>
              </a:rPr>
              <a:t>Sage teams want reproducible test cases with known answers — not cherry-picked demos. Gold-standard questions with verifiable paths are the currency of trust.</a:t>
            </a:r>
            <a:endParaRPr lang="en-US" sz="850" dirty="0"/>
          </a:p>
        </p:txBody>
      </p:sp>
      <p:sp>
        <p:nvSpPr>
          <p:cNvPr id="16" name="Text 14"/>
          <p:cNvSpPr/>
          <p:nvPr/>
        </p:nvSpPr>
        <p:spPr>
          <a:xfrm>
            <a:off x="4648200" y="3079552"/>
            <a:ext cx="4140250" cy="1860798"/>
          </a:xfrm>
          <a:prstGeom prst="rect">
            <a:avLst/>
          </a:prstGeom>
          <a:solidFill>
            <a:srgbClr val="F0F2F5"/>
          </a:solidFill>
          <a:ln/>
        </p:spPr>
        <p:txBody>
          <a:bodyPr wrap="square" rtlCol="0" anchor="ctr"/>
          <a:lstStyle/>
          <a:p>
            <a:pPr marL="0" indent="0">
              <a:buNone/>
            </a:pPr>
            <a:endParaRPr lang="en-US" dirty="0"/>
          </a:p>
        </p:txBody>
      </p:sp>
      <p:sp>
        <p:nvSpPr>
          <p:cNvPr id="17" name="Shape 15"/>
          <p:cNvSpPr/>
          <p:nvPr/>
        </p:nvSpPr>
        <p:spPr>
          <a:xfrm>
            <a:off x="4672013" y="3079552"/>
            <a:ext cx="0" cy="1860798"/>
          </a:xfrm>
          <a:prstGeom prst="line">
            <a:avLst/>
          </a:prstGeom>
          <a:noFill/>
          <a:ln w="47625">
            <a:solidFill>
              <a:srgbClr val="2E8B8B"/>
            </a:solidFill>
            <a:prstDash val="solid"/>
          </a:ln>
        </p:spPr>
        <p:txBody>
          <a:bodyPr/>
          <a:lstStyle/>
          <a:p>
            <a:endParaRPr lang="en-US"/>
          </a:p>
        </p:txBody>
      </p:sp>
      <p:sp>
        <p:nvSpPr>
          <p:cNvPr id="18" name="Text 16"/>
          <p:cNvSpPr/>
          <p:nvPr/>
        </p:nvSpPr>
        <p:spPr>
          <a:xfrm>
            <a:off x="4873526" y="3231952"/>
            <a:ext cx="3811968" cy="152400"/>
          </a:xfrm>
          <a:prstGeom prst="rect">
            <a:avLst/>
          </a:prstGeom>
          <a:noFill/>
          <a:ln/>
        </p:spPr>
        <p:txBody>
          <a:bodyPr wrap="square" lIns="0" tIns="0" rIns="0" bIns="0" rtlCol="0" anchor="t"/>
          <a:lstStyle/>
          <a:p>
            <a:pPr marL="0" indent="0" algn="l">
              <a:spcAft>
                <a:spcPts val="600"/>
              </a:spcAft>
              <a:buNone/>
            </a:pPr>
            <a:r>
              <a:rPr lang="en-US" sz="1100" b="1" dirty="0">
                <a:solidFill>
                  <a:srgbClr val="1B2A4A"/>
                </a:solidFill>
                <a:latin typeface="Arial" pitchFamily="34" charset="0"/>
                <a:ea typeface="Arial" pitchFamily="34" charset="-122"/>
                <a:cs typeface="Arial" pitchFamily="34" charset="-120"/>
              </a:rPr>
              <a:t>Language Needs Translation</a:t>
            </a:r>
            <a:endParaRPr lang="en-US" sz="1100" dirty="0"/>
          </a:p>
        </p:txBody>
      </p:sp>
      <p:sp>
        <p:nvSpPr>
          <p:cNvPr id="19" name="Text 17"/>
          <p:cNvSpPr/>
          <p:nvPr/>
        </p:nvSpPr>
        <p:spPr>
          <a:xfrm>
            <a:off x="4873526" y="3460552"/>
            <a:ext cx="3811968" cy="302121"/>
          </a:xfrm>
          <a:prstGeom prst="rect">
            <a:avLst/>
          </a:prstGeom>
          <a:noFill/>
          <a:ln/>
        </p:spPr>
        <p:txBody>
          <a:bodyPr wrap="square" lIns="0" tIns="0" rIns="0" bIns="0" rtlCol="0" anchor="t"/>
          <a:lstStyle/>
          <a:p>
            <a:pPr marL="0" indent="0" algn="l">
              <a:lnSpc>
                <a:spcPts val="1190"/>
              </a:lnSpc>
              <a:buNone/>
            </a:pPr>
            <a:r>
              <a:rPr lang="en-US" sz="850" dirty="0">
                <a:solidFill>
                  <a:srgbClr val="374151"/>
                </a:solidFill>
                <a:latin typeface="Arial" pitchFamily="34" charset="0"/>
                <a:ea typeface="Arial" pitchFamily="34" charset="-122"/>
                <a:cs typeface="Arial" pitchFamily="34" charset="-120"/>
              </a:rPr>
              <a:t>Technical capabilities must be expressed in terms researchers actually use: "Can it find drugs for my target?" not "Does it resolve HGNC IDs?"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The Baseline Challenge</a:t>
            </a:r>
            <a:endParaRPr lang="en-US" sz="2200" dirty="0"/>
          </a:p>
        </p:txBody>
      </p:sp>
      <p:sp>
        <p:nvSpPr>
          <p:cNvPr id="4" name="Text 2"/>
          <p:cNvSpPr/>
          <p:nvPr/>
        </p:nvSpPr>
        <p:spPr>
          <a:xfrm>
            <a:off x="355550" y="1091803"/>
            <a:ext cx="4114949" cy="355402"/>
          </a:xfrm>
          <a:prstGeom prst="roundRect">
            <a:avLst>
              <a:gd name="adj" fmla="val 14294"/>
            </a:avLst>
          </a:prstGeom>
          <a:solidFill>
            <a:srgbClr val="FEE2E2"/>
          </a:solidFill>
          <a:ln/>
        </p:spPr>
        <p:txBody>
          <a:bodyPr wrap="square" rtlCol="0" anchor="ctr"/>
          <a:lstStyle/>
          <a:p>
            <a:pPr marL="0" indent="0">
              <a:buNone/>
            </a:pPr>
            <a:endParaRPr lang="en-US" dirty="0"/>
          </a:p>
        </p:txBody>
      </p:sp>
      <p:sp>
        <p:nvSpPr>
          <p:cNvPr id="5" name="Text 3"/>
          <p:cNvSpPr/>
          <p:nvPr/>
        </p:nvSpPr>
        <p:spPr>
          <a:xfrm>
            <a:off x="507950" y="1193304"/>
            <a:ext cx="3886352" cy="152400"/>
          </a:xfrm>
          <a:prstGeom prst="rect">
            <a:avLst/>
          </a:prstGeom>
          <a:noFill/>
          <a:ln/>
        </p:spPr>
        <p:txBody>
          <a:bodyPr wrap="square" lIns="0" tIns="0" rIns="0" bIns="0" rtlCol="0" anchor="t"/>
          <a:lstStyle/>
          <a:p>
            <a:pPr marL="0" indent="0" algn="l">
              <a:buNone/>
            </a:pPr>
            <a:r>
              <a:rPr lang="en-US" sz="1100" b="1" dirty="0">
                <a:solidFill>
                  <a:srgbClr val="991B1B"/>
                </a:solidFill>
                <a:latin typeface="Arial" pitchFamily="34" charset="0"/>
                <a:ea typeface="Arial" pitchFamily="34" charset="-122"/>
                <a:cs typeface="Arial" pitchFamily="34" charset="-120"/>
              </a:rPr>
              <a:t>Current State</a:t>
            </a:r>
            <a:endParaRPr lang="en-US" sz="1100" dirty="0"/>
          </a:p>
        </p:txBody>
      </p:sp>
      <p:sp>
        <p:nvSpPr>
          <p:cNvPr id="6" name="Text 4"/>
          <p:cNvSpPr/>
          <p:nvPr/>
        </p:nvSpPr>
        <p:spPr>
          <a:xfrm>
            <a:off x="355550" y="1447205"/>
            <a:ext cx="4114949" cy="3182243"/>
          </a:xfrm>
          <a:prstGeom prst="rect">
            <a:avLst/>
          </a:prstGeom>
          <a:solidFill>
            <a:srgbClr val="F0F2F5"/>
          </a:solidFill>
          <a:ln/>
        </p:spPr>
        <p:txBody>
          <a:bodyPr wrap="square" rtlCol="0" anchor="ctr"/>
          <a:lstStyle/>
          <a:p>
            <a:pPr marL="0" indent="0">
              <a:buNone/>
            </a:pPr>
            <a:endParaRPr lang="en-US" dirty="0"/>
          </a:p>
        </p:txBody>
      </p:sp>
      <p:sp>
        <p:nvSpPr>
          <p:cNvPr id="7" name="Text 5"/>
          <p:cNvSpPr/>
          <p:nvPr/>
        </p:nvSpPr>
        <p:spPr>
          <a:xfrm>
            <a:off x="507950" y="1599605"/>
            <a:ext cx="3810149" cy="1028402"/>
          </a:xfrm>
          <a:prstGeom prst="rect">
            <a:avLst/>
          </a:prstGeom>
          <a:noFill/>
          <a:ln/>
        </p:spPr>
        <p:txBody>
          <a:bodyPr wrap="square" lIns="101600" tIns="0" rIns="0" bIns="0" rtlCol="0" anchor="t"/>
          <a:lstStyle/>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Ad hoc tool evaluation</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Cherry-picked demos</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No reproducible test cases</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Subjective quality assessment</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No cross-tool comparison framework</a:t>
            </a:r>
            <a:endParaRPr lang="en-US" sz="900" dirty="0"/>
          </a:p>
        </p:txBody>
      </p:sp>
      <p:sp>
        <p:nvSpPr>
          <p:cNvPr id="8" name="Text 6"/>
          <p:cNvSpPr/>
          <p:nvPr/>
        </p:nvSpPr>
        <p:spPr>
          <a:xfrm>
            <a:off x="4673650" y="1091803"/>
            <a:ext cx="4114949" cy="355402"/>
          </a:xfrm>
          <a:prstGeom prst="roundRect">
            <a:avLst>
              <a:gd name="adj" fmla="val 14294"/>
            </a:avLst>
          </a:prstGeom>
          <a:solidFill>
            <a:srgbClr val="D1FAE5"/>
          </a:solidFill>
          <a:ln/>
        </p:spPr>
        <p:txBody>
          <a:bodyPr wrap="square" rtlCol="0" anchor="ctr"/>
          <a:lstStyle/>
          <a:p>
            <a:pPr marL="0" indent="0">
              <a:buNone/>
            </a:pPr>
            <a:endParaRPr lang="en-US" dirty="0"/>
          </a:p>
        </p:txBody>
      </p:sp>
      <p:sp>
        <p:nvSpPr>
          <p:cNvPr id="9" name="Text 7"/>
          <p:cNvSpPr/>
          <p:nvPr/>
        </p:nvSpPr>
        <p:spPr>
          <a:xfrm>
            <a:off x="4826050" y="1193304"/>
            <a:ext cx="3886352" cy="152400"/>
          </a:xfrm>
          <a:prstGeom prst="rect">
            <a:avLst/>
          </a:prstGeom>
          <a:noFill/>
          <a:ln/>
        </p:spPr>
        <p:txBody>
          <a:bodyPr wrap="square" lIns="0" tIns="0" rIns="0" bIns="0" rtlCol="0" anchor="t"/>
          <a:lstStyle/>
          <a:p>
            <a:pPr marL="0" indent="0" algn="l">
              <a:buNone/>
            </a:pPr>
            <a:r>
              <a:rPr lang="en-US" sz="1100" b="1" dirty="0">
                <a:solidFill>
                  <a:srgbClr val="065F46"/>
                </a:solidFill>
                <a:latin typeface="Arial" pitchFamily="34" charset="0"/>
                <a:ea typeface="Arial" pitchFamily="34" charset="-122"/>
                <a:cs typeface="Arial" pitchFamily="34" charset="-120"/>
              </a:rPr>
              <a:t>What a Baseline Requires</a:t>
            </a:r>
            <a:endParaRPr lang="en-US" sz="1100" dirty="0"/>
          </a:p>
        </p:txBody>
      </p:sp>
      <p:sp>
        <p:nvSpPr>
          <p:cNvPr id="10" name="Text 8"/>
          <p:cNvSpPr/>
          <p:nvPr/>
        </p:nvSpPr>
        <p:spPr>
          <a:xfrm>
            <a:off x="4673650" y="1447205"/>
            <a:ext cx="4114949" cy="3182243"/>
          </a:xfrm>
          <a:prstGeom prst="rect">
            <a:avLst/>
          </a:prstGeom>
          <a:solidFill>
            <a:srgbClr val="F0F2F5"/>
          </a:solidFill>
          <a:ln/>
        </p:spPr>
        <p:txBody>
          <a:bodyPr wrap="square" rtlCol="0" anchor="ctr"/>
          <a:lstStyle/>
          <a:p>
            <a:pPr marL="0" indent="0">
              <a:buNone/>
            </a:pPr>
            <a:endParaRPr lang="en-US" dirty="0"/>
          </a:p>
        </p:txBody>
      </p:sp>
      <p:sp>
        <p:nvSpPr>
          <p:cNvPr id="11" name="Text 9"/>
          <p:cNvSpPr/>
          <p:nvPr/>
        </p:nvSpPr>
        <p:spPr>
          <a:xfrm>
            <a:off x="4826050" y="1599605"/>
            <a:ext cx="3810149" cy="1028402"/>
          </a:xfrm>
          <a:prstGeom prst="rect">
            <a:avLst/>
          </a:prstGeom>
          <a:noFill/>
          <a:ln/>
        </p:spPr>
        <p:txBody>
          <a:bodyPr wrap="square" lIns="101600" tIns="0" rIns="0" bIns="0" rtlCol="0" anchor="t"/>
          <a:lstStyle/>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Standardized questions with known answers</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Entity resolution to canonical IDs (CURIEs)</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Multi-dimensional quality scoring</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Evidence grading with confidence levels</a:t>
            </a:r>
            <a:endParaRPr lang="en-US" sz="900" dirty="0"/>
          </a:p>
          <a:p>
            <a:pPr marL="101600" indent="-101600" algn="l">
              <a:lnSpc>
                <a:spcPts val="1620"/>
              </a:lnSpc>
              <a:buSzPct val="100000"/>
              <a:buChar char="•"/>
            </a:pPr>
            <a:r>
              <a:rPr lang="en-US" sz="900" dirty="0">
                <a:solidFill>
                  <a:srgbClr val="374151"/>
                </a:solidFill>
                <a:latin typeface="Arial" pitchFamily="34" charset="0"/>
                <a:ea typeface="Arial" pitchFamily="34" charset="-122"/>
                <a:cs typeface="Arial" pitchFamily="34" charset="-120"/>
              </a:rPr>
              <a:t>Reproducible across tools, models, and time</a:t>
            </a:r>
            <a:endParaRPr lang="en-US" sz="900" dirty="0"/>
          </a:p>
        </p:txBody>
      </p:sp>
      <p:sp>
        <p:nvSpPr>
          <p:cNvPr id="12" name="Text 10"/>
          <p:cNvSpPr/>
          <p:nvPr/>
        </p:nvSpPr>
        <p:spPr>
          <a:xfrm>
            <a:off x="0" y="4807148"/>
            <a:ext cx="9144000" cy="336352"/>
          </a:xfrm>
          <a:prstGeom prst="rect">
            <a:avLst/>
          </a:prstGeom>
          <a:solidFill>
            <a:srgbClr val="2E8B8B"/>
          </a:solidFill>
          <a:ln/>
        </p:spPr>
        <p:txBody>
          <a:bodyPr wrap="square" rtlCol="0" anchor="ctr"/>
          <a:lstStyle/>
          <a:p>
            <a:pPr marL="0" indent="0">
              <a:buNone/>
            </a:pPr>
            <a:endParaRPr lang="en-US" dirty="0"/>
          </a:p>
        </p:txBody>
      </p:sp>
      <p:sp>
        <p:nvSpPr>
          <p:cNvPr id="13" name="Text 11"/>
          <p:cNvSpPr/>
          <p:nvPr/>
        </p:nvSpPr>
        <p:spPr>
          <a:xfrm>
            <a:off x="271221" y="4908649"/>
            <a:ext cx="8601557" cy="133350"/>
          </a:xfrm>
          <a:prstGeom prst="rect">
            <a:avLst/>
          </a:prstGeom>
          <a:noFill/>
          <a:ln/>
        </p:spPr>
        <p:txBody>
          <a:bodyPr wrap="square" lIns="0" tIns="0" rIns="0" bIns="0" rtlCol="0" anchor="t"/>
          <a:lstStyle/>
          <a:p>
            <a:pPr marL="0" indent="0" algn="ctr">
              <a:buNone/>
            </a:pPr>
            <a:r>
              <a:rPr lang="en-US" sz="900" dirty="0">
                <a:solidFill>
                  <a:srgbClr val="FFFFFF"/>
                </a:solidFill>
                <a:latin typeface="Arial" pitchFamily="34" charset="0"/>
                <a:ea typeface="Arial" pitchFamily="34" charset="-122"/>
                <a:cs typeface="Arial" pitchFamily="34" charset="-120"/>
              </a:rPr>
              <a:t>The gap between these columns is exactly what our platform addresses.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Research Evaluation Benchmarks</a:t>
            </a:r>
            <a:endParaRPr lang="en-US" sz="2200" dirty="0"/>
          </a:p>
        </p:txBody>
      </p:sp>
      <p:sp>
        <p:nvSpPr>
          <p:cNvPr id="4" name="Text 2"/>
          <p:cNvSpPr/>
          <p:nvPr/>
        </p:nvSpPr>
        <p:spPr>
          <a:xfrm>
            <a:off x="355550" y="552301"/>
            <a:ext cx="8601557" cy="152400"/>
          </a:xfrm>
          <a:prstGeom prst="rect">
            <a:avLst/>
          </a:prstGeom>
          <a:noFill/>
          <a:ln/>
        </p:spPr>
        <p:txBody>
          <a:bodyPr wrap="square" lIns="0" tIns="0" rIns="0" bIns="0" rtlCol="0" anchor="t"/>
          <a:lstStyle/>
          <a:p>
            <a:pPr marL="0" indent="0" algn="l">
              <a:spcBef>
                <a:spcPts val="400"/>
              </a:spcBef>
              <a:buNone/>
            </a:pPr>
            <a:r>
              <a:rPr lang="en-US" sz="1100" dirty="0">
                <a:solidFill>
                  <a:srgbClr val="94A3B8"/>
                </a:solidFill>
                <a:latin typeface="Arial" pitchFamily="34" charset="0"/>
                <a:ea typeface="Arial" pitchFamily="34" charset="-122"/>
                <a:cs typeface="Arial" pitchFamily="34" charset="-120"/>
              </a:rPr>
              <a:t>Competency Questions as Standardized Test Cases</a:t>
            </a:r>
            <a:endParaRPr lang="en-US" sz="1100" dirty="0"/>
          </a:p>
        </p:txBody>
      </p:sp>
      <p:sp>
        <p:nvSpPr>
          <p:cNvPr id="5" name="Text 3"/>
          <p:cNvSpPr/>
          <p:nvPr/>
        </p:nvSpPr>
        <p:spPr>
          <a:xfrm>
            <a:off x="271221" y="4902250"/>
            <a:ext cx="8601557" cy="114300"/>
          </a:xfrm>
          <a:prstGeom prst="rect">
            <a:avLst/>
          </a:prstGeom>
          <a:noFill/>
          <a:ln/>
        </p:spPr>
        <p:txBody>
          <a:bodyPr wrap="square" lIns="0" tIns="0" rIns="0" bIns="0" rtlCol="0" anchor="t"/>
          <a:lstStyle/>
          <a:p>
            <a:pPr marL="0" indent="0" algn="ctr">
              <a:buNone/>
            </a:pPr>
            <a:r>
              <a:rPr lang="en-US" sz="800" dirty="0">
                <a:solidFill>
                  <a:srgbClr val="6B7280"/>
                </a:solidFill>
                <a:latin typeface="Arial" pitchFamily="34" charset="0"/>
                <a:ea typeface="Arial" pitchFamily="34" charset="-122"/>
                <a:cs typeface="Arial" pitchFamily="34" charset="-120"/>
              </a:rPr>
              <a:t>15 benchmarks spanning 8 therapeutic domains — each with gold-standard paths and verifiable answers</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55550" y="1041053"/>
          <a:ext cx="8412480" cy="2331720"/>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20040">
                <a:tc>
                  <a:txBody>
                    <a:bodyPr/>
                    <a:lstStyle/>
                    <a:p>
                      <a:pPr marL="0" indent="0">
                        <a:buNone/>
                      </a:pPr>
                      <a:r>
                        <a:rPr lang="en-US" sz="800" b="1" dirty="0">
                          <a:solidFill>
                            <a:srgbClr val="FFFFFF"/>
                          </a:solidFill>
                        </a:rPr>
                        <a:t>Benchmark</a:t>
                      </a:r>
                      <a:endParaRPr lang="en-US" sz="8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buNone/>
                      </a:pPr>
                      <a:r>
                        <a:rPr lang="en-US" sz="800" b="1" dirty="0">
                          <a:solidFill>
                            <a:srgbClr val="FFFFFF"/>
                          </a:solidFill>
                        </a:rPr>
                        <a:t>Domain</a:t>
                      </a:r>
                      <a:endParaRPr lang="en-US" sz="8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buNone/>
                      </a:pPr>
                      <a:r>
                        <a:rPr lang="en-US" sz="800" b="1" dirty="0">
                          <a:solidFill>
                            <a:srgbClr val="FFFFFF"/>
                          </a:solidFill>
                        </a:rPr>
                        <a:t>Key Entities (CURIEs)</a:t>
                      </a:r>
                      <a:endParaRPr lang="en-US" sz="8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buNone/>
                      </a:pPr>
                      <a:r>
                        <a:rPr lang="en-US" sz="800" b="1" dirty="0">
                          <a:solidFill>
                            <a:srgbClr val="FFFFFF"/>
                          </a:solidFill>
                        </a:rPr>
                        <a:t>Complexity</a:t>
                      </a:r>
                      <a:endParaRPr lang="en-US" sz="8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buNone/>
                      </a:pPr>
                      <a:r>
                        <a:rPr lang="en-US" sz="700" b="1" dirty="0">
                          <a:solidFill>
                            <a:srgbClr val="000000"/>
                          </a:solidFill>
                        </a:rPr>
                        <a:t>FOP Drug Mechanism</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Drug Mechanisms</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Palovarotene (CHEMBL:2105648)</a:t>
                      </a:r>
                      <a:endParaRPr lang="en-US" sz="650" dirty="0"/>
                    </a:p>
                    <a:p>
                      <a:pPr marL="0" indent="0">
                        <a:buNone/>
                      </a:pPr>
                      <a:r>
                        <a:rPr lang="en-US" sz="650" dirty="0">
                          <a:solidFill>
                            <a:srgbClr val="000000"/>
                          </a:solidFill>
                        </a:rPr>
                        <a:t>RARG (HGNC:9866), ACVR1 (HGNC:171)</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Low</a:t>
                      </a:r>
                      <a:endParaRPr lang="en-US" sz="700" dirty="0"/>
                    </a:p>
                    <a:p>
                      <a:pPr marL="0" indent="0">
                        <a:buNone/>
                      </a:pPr>
                      <a:r>
                        <a:rPr lang="en-US" sz="700" dirty="0">
                          <a:solidFill>
                            <a:srgbClr val="000000"/>
                          </a:solidFill>
                        </a:rPr>
                        <a:t>4-node linear path</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700" b="1" dirty="0">
                          <a:solidFill>
                            <a:srgbClr val="000000"/>
                          </a:solidFill>
                        </a:rPr>
                        <a:t>ARID1A Synthetic Lethality</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Precision Oncology</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ARID1A (HGNC:11110)</a:t>
                      </a:r>
                      <a:endParaRPr lang="en-US" sz="650" dirty="0"/>
                    </a:p>
                    <a:p>
                      <a:pPr marL="0" indent="0">
                        <a:buNone/>
                      </a:pPr>
                      <a:r>
                        <a:rPr lang="en-US" sz="650" dirty="0">
                          <a:solidFill>
                            <a:srgbClr val="000000"/>
                          </a:solidFill>
                        </a:rPr>
                        <a:t>EZH2 (HGNC:3527), Tazemetostat (CHEMBL:3414621)</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Medium</a:t>
                      </a:r>
                      <a:endParaRPr lang="en-US" sz="700" dirty="0"/>
                    </a:p>
                    <a:p>
                      <a:pPr marL="0" indent="0">
                        <a:buNone/>
                      </a:pPr>
                      <a:r>
                        <a:rPr lang="en-US" sz="700" dirty="0">
                          <a:solidFill>
                            <a:srgbClr val="000000"/>
                          </a:solidFill>
                        </a:rPr>
                        <a:t>Protein complex + drug + trial</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700" b="1" dirty="0">
                          <a:solidFill>
                            <a:srgbClr val="000000"/>
                          </a:solidFill>
                        </a:rPr>
                        <a:t>TP53 Synthetic Lethal Pairs</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Scalable Validation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TP53 (HGNC:11998)</a:t>
                      </a:r>
                      <a:endParaRPr lang="en-US" sz="650" dirty="0"/>
                    </a:p>
                    <a:p>
                      <a:pPr marL="0" indent="0">
                        <a:buNone/>
                      </a:pPr>
                      <a:r>
                        <a:rPr lang="en-US" sz="650" dirty="0">
                          <a:solidFill>
                            <a:srgbClr val="000000"/>
                          </a:solidFill>
                        </a:rPr>
                        <a:t>TYMS (HGNC:12441), 5-FU (CHEMBL:185)</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High</a:t>
                      </a:r>
                      <a:endParaRPr lang="en-US" sz="700" dirty="0"/>
                    </a:p>
                    <a:p>
                      <a:pPr marL="0" indent="0">
                        <a:buNone/>
                      </a:pPr>
                      <a:r>
                        <a:rPr lang="en-US" sz="700" dirty="0">
                          <a:solidFill>
                            <a:srgbClr val="000000"/>
                          </a:solidFill>
                        </a:rPr>
                        <a:t>209 SL pairs, CRISPR validation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700" b="1" dirty="0">
                          <a:solidFill>
                            <a:srgbClr val="000000"/>
                          </a:solidFill>
                        </a:rPr>
                        <a:t>Health Emergency Landscape</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Clinical Landscape</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18,636+ recruiting trials across</a:t>
                      </a:r>
                      <a:endParaRPr lang="en-US" sz="650" dirty="0"/>
                    </a:p>
                    <a:p>
                      <a:pPr marL="0" indent="0">
                        <a:buNone/>
                      </a:pPr>
                      <a:r>
                        <a:rPr lang="en-US" sz="650" dirty="0">
                          <a:solidFill>
                            <a:srgbClr val="000000"/>
                          </a:solidFill>
                        </a:rPr>
                        <a:t>oncology, diabetes, Alzheimer's, Long COVID</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dirty="0">
                          <a:solidFill>
                            <a:srgbClr val="000000"/>
                          </a:solidFill>
                        </a:rPr>
                        <a:t>Medium</a:t>
                      </a:r>
                      <a:endParaRPr lang="en-US" sz="700" dirty="0"/>
                    </a:p>
                    <a:p>
                      <a:pPr marL="0" indent="0">
                        <a:buNone/>
                      </a:pPr>
                      <a:r>
                        <a:rPr lang="en-US" sz="700" dirty="0">
                          <a:solidFill>
                            <a:srgbClr val="000000"/>
                          </a:solidFill>
                        </a:rPr>
                        <a:t>Real-time trend detection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10-Dimension Quality Framework</a:t>
            </a:r>
            <a:endParaRPr lang="en-US" sz="2200" dirty="0"/>
          </a:p>
        </p:txBody>
      </p:sp>
      <p:sp>
        <p:nvSpPr>
          <p:cNvPr id="4" name="Text 2"/>
          <p:cNvSpPr/>
          <p:nvPr/>
        </p:nvSpPr>
        <p:spPr>
          <a:xfrm>
            <a:off x="271221" y="4927699"/>
            <a:ext cx="8601557" cy="114300"/>
          </a:xfrm>
          <a:prstGeom prst="rect">
            <a:avLst/>
          </a:prstGeom>
          <a:noFill/>
          <a:ln/>
        </p:spPr>
        <p:txBody>
          <a:bodyPr wrap="square" lIns="0" tIns="0" rIns="0" bIns="0" rtlCol="0" anchor="t"/>
          <a:lstStyle/>
          <a:p>
            <a:pPr marL="0" indent="0" algn="ctr">
              <a:buNone/>
            </a:pPr>
            <a:r>
              <a:rPr lang="en-US" sz="800" b="1" dirty="0">
                <a:solidFill>
                  <a:srgbClr val="6B7280"/>
                </a:solidFill>
                <a:latin typeface="Arial" pitchFamily="34" charset="0"/>
                <a:ea typeface="Arial" pitchFamily="34" charset="-122"/>
                <a:cs typeface="Arial" pitchFamily="34" charset="-120"/>
              </a:rPr>
              <a:t>Pass threshold: 35/40 on dimensions 1-4 (non-negotiable) + 30/60 on dimensions 5-10</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55550" y="990302"/>
          <a:ext cx="7589520" cy="2286000"/>
        </p:xfrm>
        <a:graphic>
          <a:graphicData uri="http://schemas.openxmlformats.org/drawingml/2006/table">
            <a:tbl>
              <a:tblPr/>
              <a:tblGrid>
                <a:gridCol w="3657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74320">
                <a:tc>
                  <a:txBody>
                    <a:bodyPr/>
                    <a:lstStyle/>
                    <a:p>
                      <a:pPr marL="0" indent="0" algn="ctr">
                        <a:buNone/>
                      </a:pPr>
                      <a:r>
                        <a:rPr lang="en-US" sz="700" b="1" dirty="0">
                          <a:solidFill>
                            <a:srgbClr val="FFFFFF"/>
                          </a:solidFill>
                        </a:rPr>
                        <a:t>#</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buNone/>
                      </a:pPr>
                      <a:r>
                        <a:rPr lang="en-US" sz="700" b="1" dirty="0">
                          <a:solidFill>
                            <a:srgbClr val="FFFFFF"/>
                          </a:solidFill>
                        </a:rPr>
                        <a:t>Dimension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buNone/>
                      </a:pPr>
                      <a:r>
                        <a:rPr lang="en-US" sz="700" b="1" dirty="0">
                          <a:solidFill>
                            <a:srgbClr val="FFFFFF"/>
                          </a:solidFill>
                        </a:rPr>
                        <a:t>What It Measures</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700" b="1" dirty="0">
                          <a:solidFill>
                            <a:srgbClr val="FFFFFF"/>
                          </a:solidFill>
                        </a:rPr>
                        <a:t>Range</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01168">
                <a:tc>
                  <a:txBody>
                    <a:bodyPr/>
                    <a:lstStyle/>
                    <a:p>
                      <a:pPr marL="0" indent="0" algn="ctr">
                        <a:buNone/>
                      </a:pPr>
                      <a:r>
                        <a:rPr lang="en-US" sz="700" dirty="0">
                          <a:solidFill>
                            <a:srgbClr val="000000"/>
                          </a:solidFill>
                        </a:rPr>
                        <a:t>1</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700" b="1" dirty="0">
                          <a:solidFill>
                            <a:srgbClr val="000000"/>
                          </a:solidFill>
                        </a:rPr>
                        <a:t>CURIE Resolution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650" dirty="0">
                          <a:solidFill>
                            <a:srgbClr val="000000"/>
                          </a:solidFill>
                        </a:rPr>
                        <a:t>Entities mapped to canonical identifiers (HGNC, CHEMBL, MONDO)</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extLst>
                  <a:ext uri="{0D108BD9-81ED-4DB2-BD59-A6C34878D82A}">
                    <a16:rowId xmlns:a16="http://schemas.microsoft.com/office/drawing/2014/main" val="10001"/>
                  </a:ext>
                </a:extLst>
              </a:tr>
              <a:tr h="201168">
                <a:tc>
                  <a:txBody>
                    <a:bodyPr/>
                    <a:lstStyle/>
                    <a:p>
                      <a:pPr marL="0" indent="0" algn="ctr">
                        <a:buNone/>
                      </a:pPr>
                      <a:r>
                        <a:rPr lang="en-US" sz="700" dirty="0">
                          <a:solidFill>
                            <a:srgbClr val="000000"/>
                          </a:solidFill>
                        </a:rPr>
                        <a:t>2</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700" b="1" dirty="0">
                          <a:solidFill>
                            <a:srgbClr val="000000"/>
                          </a:solidFill>
                        </a:rPr>
                        <a:t>Source Attribution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650" dirty="0">
                          <a:solidFill>
                            <a:srgbClr val="000000"/>
                          </a:solidFill>
                        </a:rPr>
                        <a:t>Every claim traceable to a named API + identifier</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extLst>
                  <a:ext uri="{0D108BD9-81ED-4DB2-BD59-A6C34878D82A}">
                    <a16:rowId xmlns:a16="http://schemas.microsoft.com/office/drawing/2014/main" val="10002"/>
                  </a:ext>
                </a:extLst>
              </a:tr>
              <a:tr h="201168">
                <a:tc>
                  <a:txBody>
                    <a:bodyPr/>
                    <a:lstStyle/>
                    <a:p>
                      <a:pPr marL="0" indent="0" algn="ctr">
                        <a:buNone/>
                      </a:pPr>
                      <a:r>
                        <a:rPr lang="en-US" sz="700" dirty="0">
                          <a:solidFill>
                            <a:srgbClr val="000000"/>
                          </a:solidFill>
                        </a:rPr>
                        <a:t>3</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700" b="1" dirty="0">
                          <a:solidFill>
                            <a:srgbClr val="000000"/>
                          </a:solidFill>
                        </a:rPr>
                        <a:t>Evidence Grading</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650" dirty="0">
                          <a:solidFill>
                            <a:srgbClr val="000000"/>
                          </a:solidFill>
                        </a:rPr>
                        <a:t>Claims tagged L1-L4 with confidence ranges</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extLst>
                  <a:ext uri="{0D108BD9-81ED-4DB2-BD59-A6C34878D82A}">
                    <a16:rowId xmlns:a16="http://schemas.microsoft.com/office/drawing/2014/main" val="10003"/>
                  </a:ext>
                </a:extLst>
              </a:tr>
              <a:tr h="201168">
                <a:tc>
                  <a:txBody>
                    <a:bodyPr/>
                    <a:lstStyle/>
                    <a:p>
                      <a:pPr marL="0" indent="0" algn="ctr">
                        <a:buNone/>
                      </a:pPr>
                      <a:r>
                        <a:rPr lang="en-US" sz="700" dirty="0">
                          <a:solidFill>
                            <a:srgbClr val="000000"/>
                          </a:solidFill>
                        </a:rPr>
                        <a:t>4</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700" b="1" dirty="0">
                          <a:solidFill>
                            <a:srgbClr val="000000"/>
                          </a:solidFill>
                        </a:rPr>
                        <a:t>Hallucination Risk</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buNone/>
                      </a:pPr>
                      <a:r>
                        <a:rPr lang="en-US" sz="650" dirty="0">
                          <a:solidFill>
                            <a:srgbClr val="000000"/>
                          </a:solidFill>
                        </a:rPr>
                        <a:t>Zero fabricated entities, relationships, or trial IDs</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C7"/>
                    </a:solidFill>
                  </a:tcPr>
                </a:tc>
                <a:extLst>
                  <a:ext uri="{0D108BD9-81ED-4DB2-BD59-A6C34878D82A}">
                    <a16:rowId xmlns:a16="http://schemas.microsoft.com/office/drawing/2014/main" val="10004"/>
                  </a:ext>
                </a:extLst>
              </a:tr>
              <a:tr h="201168">
                <a:tc>
                  <a:txBody>
                    <a:bodyPr/>
                    <a:lstStyle/>
                    <a:p>
                      <a:pPr marL="0" indent="0" algn="ctr">
                        <a:buNone/>
                      </a:pPr>
                      <a:r>
                        <a:rPr lang="en-US" sz="700" dirty="0">
                          <a:solidFill>
                            <a:srgbClr val="000000"/>
                          </a:solidFill>
                        </a:rPr>
                        <a:t>5</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b="1" dirty="0">
                          <a:solidFill>
                            <a:srgbClr val="000000"/>
                          </a:solidFill>
                        </a:rPr>
                        <a:t>Multi-Source Triangulation</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Findings confirmed across 2+ independent databases</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201168">
                <a:tc>
                  <a:txBody>
                    <a:bodyPr/>
                    <a:lstStyle/>
                    <a:p>
                      <a:pPr marL="0" indent="0" algn="ctr">
                        <a:buNone/>
                      </a:pPr>
                      <a:r>
                        <a:rPr lang="en-US" sz="700" dirty="0">
                          <a:solidFill>
                            <a:srgbClr val="000000"/>
                          </a:solidFill>
                        </a:rPr>
                        <a:t>6</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b="1" dirty="0">
                          <a:solidFill>
                            <a:srgbClr val="000000"/>
                          </a:solidFill>
                        </a:rPr>
                        <a:t>Clinical Relevance</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Results connect to actionable drugs or active trials</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6"/>
                  </a:ext>
                </a:extLst>
              </a:tr>
              <a:tr h="201168">
                <a:tc>
                  <a:txBody>
                    <a:bodyPr/>
                    <a:lstStyle/>
                    <a:p>
                      <a:pPr marL="0" indent="0" algn="ctr">
                        <a:buNone/>
                      </a:pPr>
                      <a:r>
                        <a:rPr lang="en-US" sz="700" dirty="0">
                          <a:solidFill>
                            <a:srgbClr val="000000"/>
                          </a:solidFill>
                        </a:rPr>
                        <a:t>7</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b="1" dirty="0">
                          <a:solidFill>
                            <a:srgbClr val="000000"/>
                          </a:solidFill>
                        </a:rPr>
                        <a:t>Pathway Completeness</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Full mechanistic paths discovered (drug &gt; target &gt; disease)</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7"/>
                  </a:ext>
                </a:extLst>
              </a:tr>
              <a:tr h="201168">
                <a:tc>
                  <a:txBody>
                    <a:bodyPr/>
                    <a:lstStyle/>
                    <a:p>
                      <a:pPr marL="0" indent="0" algn="ctr">
                        <a:buNone/>
                      </a:pPr>
                      <a:r>
                        <a:rPr lang="en-US" sz="700" dirty="0">
                          <a:solidFill>
                            <a:srgbClr val="000000"/>
                          </a:solidFill>
                        </a:rPr>
                        <a:t>8</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b="1" dirty="0">
                          <a:solidFill>
                            <a:srgbClr val="000000"/>
                          </a:solidFill>
                        </a:rPr>
                        <a:t>Contradiction Handling</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Conflicting sources identified and resolved transparently</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8"/>
                  </a:ext>
                </a:extLst>
              </a:tr>
              <a:tr h="201168">
                <a:tc>
                  <a:txBody>
                    <a:bodyPr/>
                    <a:lstStyle/>
                    <a:p>
                      <a:pPr marL="0" indent="0" algn="ctr">
                        <a:buNone/>
                      </a:pPr>
                      <a:r>
                        <a:rPr lang="en-US" sz="700" dirty="0">
                          <a:solidFill>
                            <a:srgbClr val="000000"/>
                          </a:solidFill>
                        </a:rPr>
                        <a:t>9</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b="1" dirty="0">
                          <a:solidFill>
                            <a:srgbClr val="000000"/>
                          </a:solidFill>
                        </a:rPr>
                        <a:t>Temporal Currency</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Data reflects current trial status and approval landscape</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9"/>
                  </a:ext>
                </a:extLst>
              </a:tr>
              <a:tr h="201168">
                <a:tc>
                  <a:txBody>
                    <a:bodyPr/>
                    <a:lstStyle/>
                    <a:p>
                      <a:pPr marL="0" indent="0" algn="ctr">
                        <a:buNone/>
                      </a:pPr>
                      <a:r>
                        <a:rPr lang="en-US" sz="700" dirty="0">
                          <a:solidFill>
                            <a:srgbClr val="000000"/>
                          </a:solidFill>
                        </a:rPr>
                        <a:t>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700" b="1" dirty="0">
                          <a:solidFill>
                            <a:srgbClr val="000000"/>
                          </a:solidFill>
                        </a:rPr>
                        <a:t>Knowledge Graph Density</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650" dirty="0">
                          <a:solidFill>
                            <a:srgbClr val="000000"/>
                          </a:solidFill>
                        </a:rPr>
                        <a:t>Captured interaction breadth (nodes, edges, cross-refs)</a:t>
                      </a:r>
                      <a:endParaRPr lang="en-US" sz="65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700" dirty="0">
                          <a:solidFill>
                            <a:srgbClr val="000000"/>
                          </a:solidFill>
                        </a:rPr>
                        <a:t>0-10</a:t>
                      </a:r>
                      <a:endParaRPr lang="en-US" sz="7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The Fuzzy-to-Fact Protocol</a:t>
            </a:r>
            <a:endParaRPr lang="en-US" sz="2200" dirty="0"/>
          </a:p>
        </p:txBody>
      </p:sp>
      <p:sp>
        <p:nvSpPr>
          <p:cNvPr id="4" name="Text 2"/>
          <p:cNvSpPr/>
          <p:nvPr/>
        </p:nvSpPr>
        <p:spPr>
          <a:xfrm>
            <a:off x="355550" y="552301"/>
            <a:ext cx="8601557" cy="152400"/>
          </a:xfrm>
          <a:prstGeom prst="rect">
            <a:avLst/>
          </a:prstGeom>
          <a:noFill/>
          <a:ln/>
        </p:spPr>
        <p:txBody>
          <a:bodyPr wrap="square" lIns="0" tIns="0" rIns="0" bIns="0" rtlCol="0" anchor="t"/>
          <a:lstStyle/>
          <a:p>
            <a:pPr marL="0" indent="0" algn="l">
              <a:spcBef>
                <a:spcPts val="400"/>
              </a:spcBef>
              <a:buNone/>
            </a:pPr>
            <a:r>
              <a:rPr lang="en-US" sz="1100" dirty="0">
                <a:solidFill>
                  <a:srgbClr val="94A3B8"/>
                </a:solidFill>
                <a:latin typeface="Arial" pitchFamily="34" charset="0"/>
                <a:ea typeface="Arial" pitchFamily="34" charset="-122"/>
                <a:cs typeface="Arial" pitchFamily="34" charset="-120"/>
              </a:rPr>
              <a:t>7-Phase Structured Workflow</a:t>
            </a:r>
            <a:endParaRPr lang="en-US" sz="1100" dirty="0"/>
          </a:p>
        </p:txBody>
      </p:sp>
      <p:sp>
        <p:nvSpPr>
          <p:cNvPr id="5" name="Text 3"/>
          <p:cNvSpPr/>
          <p:nvPr/>
        </p:nvSpPr>
        <p:spPr>
          <a:xfrm>
            <a:off x="177701"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6" name="Text 4"/>
          <p:cNvSpPr/>
          <p:nvPr/>
        </p:nvSpPr>
        <p:spPr>
          <a:xfrm>
            <a:off x="206184"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1</a:t>
            </a:r>
            <a:endParaRPr lang="en-US" sz="700" dirty="0"/>
          </a:p>
        </p:txBody>
      </p:sp>
      <p:sp>
        <p:nvSpPr>
          <p:cNvPr id="7" name="Text 5"/>
          <p:cNvSpPr/>
          <p:nvPr/>
        </p:nvSpPr>
        <p:spPr>
          <a:xfrm>
            <a:off x="206184"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ANCHOR</a:t>
            </a:r>
            <a:endParaRPr lang="en-US" sz="800" dirty="0"/>
          </a:p>
        </p:txBody>
      </p:sp>
      <p:sp>
        <p:nvSpPr>
          <p:cNvPr id="8" name="Text 6"/>
          <p:cNvSpPr/>
          <p:nvPr/>
        </p:nvSpPr>
        <p:spPr>
          <a:xfrm>
            <a:off x="206184" y="2681139"/>
            <a:ext cx="980962" cy="171450"/>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Resolve entities to canonical IDs</a:t>
            </a:r>
            <a:endParaRPr lang="en-US" sz="550" dirty="0"/>
          </a:p>
        </p:txBody>
      </p:sp>
      <p:sp>
        <p:nvSpPr>
          <p:cNvPr id="9" name="Text 7"/>
          <p:cNvSpPr/>
          <p:nvPr/>
        </p:nvSpPr>
        <p:spPr>
          <a:xfrm>
            <a:off x="1253728" y="2532013"/>
            <a:ext cx="181255" cy="209550"/>
          </a:xfrm>
          <a:prstGeom prst="rect">
            <a:avLst/>
          </a:prstGeom>
          <a:noFill/>
          <a:ln/>
        </p:spPr>
        <p:txBody>
          <a:bodyPr wrap="square" lIns="0" tIns="0" rIns="0" bIns="0" rtlCol="0" anchor="t"/>
          <a:lstStyle/>
          <a:p>
            <a:pPr marL="0" indent="0" algn="l">
              <a:buNone/>
            </a:pPr>
            <a:r>
              <a:rPr lang="en-US" sz="1400" b="1" dirty="0">
                <a:solidFill>
                  <a:srgbClr val="2E8B8B"/>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1469529"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11" name="Text 9"/>
          <p:cNvSpPr/>
          <p:nvPr/>
        </p:nvSpPr>
        <p:spPr>
          <a:xfrm>
            <a:off x="1498012"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2</a:t>
            </a:r>
            <a:endParaRPr lang="en-US" sz="700" dirty="0"/>
          </a:p>
        </p:txBody>
      </p:sp>
      <p:sp>
        <p:nvSpPr>
          <p:cNvPr id="12" name="Text 10"/>
          <p:cNvSpPr/>
          <p:nvPr/>
        </p:nvSpPr>
        <p:spPr>
          <a:xfrm>
            <a:off x="1498012"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ENRICH</a:t>
            </a:r>
            <a:endParaRPr lang="en-US" sz="800" dirty="0"/>
          </a:p>
        </p:txBody>
      </p:sp>
      <p:sp>
        <p:nvSpPr>
          <p:cNvPr id="13" name="Text 11"/>
          <p:cNvSpPr/>
          <p:nvPr/>
        </p:nvSpPr>
        <p:spPr>
          <a:xfrm>
            <a:off x="1498012" y="2681139"/>
            <a:ext cx="980962" cy="171450"/>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Cross-reference functional metadata</a:t>
            </a:r>
            <a:endParaRPr lang="en-US" sz="550" dirty="0"/>
          </a:p>
        </p:txBody>
      </p:sp>
      <p:sp>
        <p:nvSpPr>
          <p:cNvPr id="14" name="Text 12"/>
          <p:cNvSpPr/>
          <p:nvPr/>
        </p:nvSpPr>
        <p:spPr>
          <a:xfrm>
            <a:off x="2545556" y="2532013"/>
            <a:ext cx="181255" cy="209550"/>
          </a:xfrm>
          <a:prstGeom prst="rect">
            <a:avLst/>
          </a:prstGeom>
          <a:noFill/>
          <a:ln/>
        </p:spPr>
        <p:txBody>
          <a:bodyPr wrap="square" lIns="0" tIns="0" rIns="0" bIns="0" rtlCol="0" anchor="t"/>
          <a:lstStyle/>
          <a:p>
            <a:pPr marL="0" indent="0" algn="l">
              <a:buNone/>
            </a:pPr>
            <a:r>
              <a:rPr lang="en-US" sz="1400" b="1" dirty="0">
                <a:solidFill>
                  <a:srgbClr val="2E8B8B"/>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2761357"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16" name="Text 14"/>
          <p:cNvSpPr/>
          <p:nvPr/>
        </p:nvSpPr>
        <p:spPr>
          <a:xfrm>
            <a:off x="2789840"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3</a:t>
            </a:r>
            <a:endParaRPr lang="en-US" sz="700" dirty="0"/>
          </a:p>
        </p:txBody>
      </p:sp>
      <p:sp>
        <p:nvSpPr>
          <p:cNvPr id="17" name="Text 15"/>
          <p:cNvSpPr/>
          <p:nvPr/>
        </p:nvSpPr>
        <p:spPr>
          <a:xfrm>
            <a:off x="2789840"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EXPAND</a:t>
            </a:r>
            <a:endParaRPr lang="en-US" sz="800" dirty="0"/>
          </a:p>
        </p:txBody>
      </p:sp>
      <p:sp>
        <p:nvSpPr>
          <p:cNvPr id="18" name="Text 16"/>
          <p:cNvSpPr/>
          <p:nvPr/>
        </p:nvSpPr>
        <p:spPr>
          <a:xfrm>
            <a:off x="2789840" y="2681139"/>
            <a:ext cx="980962" cy="85725"/>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Discover interaction networks</a:t>
            </a:r>
            <a:endParaRPr lang="en-US" sz="550" dirty="0"/>
          </a:p>
        </p:txBody>
      </p:sp>
      <p:sp>
        <p:nvSpPr>
          <p:cNvPr id="19" name="Text 17"/>
          <p:cNvSpPr/>
          <p:nvPr/>
        </p:nvSpPr>
        <p:spPr>
          <a:xfrm>
            <a:off x="3837384" y="2532013"/>
            <a:ext cx="181255" cy="209550"/>
          </a:xfrm>
          <a:prstGeom prst="rect">
            <a:avLst/>
          </a:prstGeom>
          <a:noFill/>
          <a:ln/>
        </p:spPr>
        <p:txBody>
          <a:bodyPr wrap="square" lIns="0" tIns="0" rIns="0" bIns="0" rtlCol="0" anchor="t"/>
          <a:lstStyle/>
          <a:p>
            <a:pPr marL="0" indent="0" algn="l">
              <a:buNone/>
            </a:pPr>
            <a:r>
              <a:rPr lang="en-US" sz="1400" b="1" dirty="0">
                <a:solidFill>
                  <a:srgbClr val="2E8B8B"/>
                </a:solidFill>
                <a:latin typeface="Arial" pitchFamily="34" charset="0"/>
                <a:ea typeface="Arial" pitchFamily="34" charset="-122"/>
                <a:cs typeface="Arial" pitchFamily="34" charset="-120"/>
              </a:rPr>
              <a:t>→</a:t>
            </a:r>
            <a:endParaRPr lang="en-US" sz="1400" dirty="0"/>
          </a:p>
        </p:txBody>
      </p:sp>
      <p:sp>
        <p:nvSpPr>
          <p:cNvPr id="20" name="Text 18"/>
          <p:cNvSpPr/>
          <p:nvPr/>
        </p:nvSpPr>
        <p:spPr>
          <a:xfrm>
            <a:off x="4053185"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21" name="Text 19"/>
          <p:cNvSpPr/>
          <p:nvPr/>
        </p:nvSpPr>
        <p:spPr>
          <a:xfrm>
            <a:off x="4081668"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4a</a:t>
            </a:r>
            <a:endParaRPr lang="en-US" sz="700" dirty="0"/>
          </a:p>
        </p:txBody>
      </p:sp>
      <p:sp>
        <p:nvSpPr>
          <p:cNvPr id="22" name="Text 20"/>
          <p:cNvSpPr/>
          <p:nvPr/>
        </p:nvSpPr>
        <p:spPr>
          <a:xfrm>
            <a:off x="4081668"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DRUGS</a:t>
            </a:r>
            <a:endParaRPr lang="en-US" sz="800" dirty="0"/>
          </a:p>
        </p:txBody>
      </p:sp>
      <p:sp>
        <p:nvSpPr>
          <p:cNvPr id="23" name="Text 21"/>
          <p:cNvSpPr/>
          <p:nvPr/>
        </p:nvSpPr>
        <p:spPr>
          <a:xfrm>
            <a:off x="4081668" y="2681139"/>
            <a:ext cx="980962" cy="85725"/>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Find therapeutics for targets</a:t>
            </a:r>
            <a:endParaRPr lang="en-US" sz="550" dirty="0"/>
          </a:p>
        </p:txBody>
      </p:sp>
      <p:sp>
        <p:nvSpPr>
          <p:cNvPr id="24" name="Text 22"/>
          <p:cNvSpPr/>
          <p:nvPr/>
        </p:nvSpPr>
        <p:spPr>
          <a:xfrm>
            <a:off x="5129213" y="2532013"/>
            <a:ext cx="181255" cy="209550"/>
          </a:xfrm>
          <a:prstGeom prst="rect">
            <a:avLst/>
          </a:prstGeom>
          <a:noFill/>
          <a:ln/>
        </p:spPr>
        <p:txBody>
          <a:bodyPr wrap="square" lIns="0" tIns="0" rIns="0" bIns="0" rtlCol="0" anchor="t"/>
          <a:lstStyle/>
          <a:p>
            <a:pPr marL="0" indent="0" algn="l">
              <a:buNone/>
            </a:pPr>
            <a:r>
              <a:rPr lang="en-US" sz="1400" b="1" dirty="0">
                <a:solidFill>
                  <a:srgbClr val="2E8B8B"/>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5345013"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26" name="Text 24"/>
          <p:cNvSpPr/>
          <p:nvPr/>
        </p:nvSpPr>
        <p:spPr>
          <a:xfrm>
            <a:off x="5373496"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4b</a:t>
            </a:r>
            <a:endParaRPr lang="en-US" sz="700" dirty="0"/>
          </a:p>
        </p:txBody>
      </p:sp>
      <p:sp>
        <p:nvSpPr>
          <p:cNvPr id="27" name="Text 25"/>
          <p:cNvSpPr/>
          <p:nvPr/>
        </p:nvSpPr>
        <p:spPr>
          <a:xfrm>
            <a:off x="5373496"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TRIALS</a:t>
            </a:r>
            <a:endParaRPr lang="en-US" sz="800" dirty="0"/>
          </a:p>
        </p:txBody>
      </p:sp>
      <p:sp>
        <p:nvSpPr>
          <p:cNvPr id="28" name="Text 26"/>
          <p:cNvSpPr/>
          <p:nvPr/>
        </p:nvSpPr>
        <p:spPr>
          <a:xfrm>
            <a:off x="5373496" y="2681139"/>
            <a:ext cx="980962" cy="85725"/>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Find clinical trials</a:t>
            </a:r>
            <a:endParaRPr lang="en-US" sz="550" dirty="0"/>
          </a:p>
        </p:txBody>
      </p:sp>
      <p:sp>
        <p:nvSpPr>
          <p:cNvPr id="29" name="Text 27"/>
          <p:cNvSpPr/>
          <p:nvPr/>
        </p:nvSpPr>
        <p:spPr>
          <a:xfrm>
            <a:off x="6421041" y="2532013"/>
            <a:ext cx="181255" cy="209550"/>
          </a:xfrm>
          <a:prstGeom prst="rect">
            <a:avLst/>
          </a:prstGeom>
          <a:noFill/>
          <a:ln/>
        </p:spPr>
        <p:txBody>
          <a:bodyPr wrap="square" lIns="0" tIns="0" rIns="0" bIns="0" rtlCol="0" anchor="t"/>
          <a:lstStyle/>
          <a:p>
            <a:pPr marL="0" indent="0" algn="l">
              <a:buNone/>
            </a:pPr>
            <a:r>
              <a:rPr lang="en-US" sz="1400" b="1" dirty="0">
                <a:solidFill>
                  <a:srgbClr val="2E8B8B"/>
                </a:solidFill>
                <a:latin typeface="Arial" pitchFamily="34" charset="0"/>
                <a:ea typeface="Arial" pitchFamily="34" charset="-122"/>
                <a:cs typeface="Arial" pitchFamily="34" charset="-120"/>
              </a:rPr>
              <a:t>→</a:t>
            </a:r>
            <a:endParaRPr lang="en-US" sz="1400" dirty="0"/>
          </a:p>
        </p:txBody>
      </p:sp>
      <p:sp>
        <p:nvSpPr>
          <p:cNvPr id="30" name="Text 28"/>
          <p:cNvSpPr/>
          <p:nvPr/>
        </p:nvSpPr>
        <p:spPr>
          <a:xfrm>
            <a:off x="6636841"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31" name="Text 29"/>
          <p:cNvSpPr/>
          <p:nvPr/>
        </p:nvSpPr>
        <p:spPr>
          <a:xfrm>
            <a:off x="6665324"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5</a:t>
            </a:r>
            <a:endParaRPr lang="en-US" sz="700" dirty="0"/>
          </a:p>
        </p:txBody>
      </p:sp>
      <p:sp>
        <p:nvSpPr>
          <p:cNvPr id="32" name="Text 30"/>
          <p:cNvSpPr/>
          <p:nvPr/>
        </p:nvSpPr>
        <p:spPr>
          <a:xfrm>
            <a:off x="6665324"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VALIDATE</a:t>
            </a:r>
            <a:endParaRPr lang="en-US" sz="800" dirty="0"/>
          </a:p>
        </p:txBody>
      </p:sp>
      <p:sp>
        <p:nvSpPr>
          <p:cNvPr id="33" name="Text 31"/>
          <p:cNvSpPr/>
          <p:nvPr/>
        </p:nvSpPr>
        <p:spPr>
          <a:xfrm>
            <a:off x="6665324" y="2681139"/>
            <a:ext cx="980962" cy="85725"/>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Verify claims, grade evidence</a:t>
            </a:r>
            <a:endParaRPr lang="en-US" sz="550" dirty="0"/>
          </a:p>
        </p:txBody>
      </p:sp>
      <p:sp>
        <p:nvSpPr>
          <p:cNvPr id="34" name="Text 32"/>
          <p:cNvSpPr/>
          <p:nvPr/>
        </p:nvSpPr>
        <p:spPr>
          <a:xfrm>
            <a:off x="7712869" y="2532013"/>
            <a:ext cx="181255" cy="209550"/>
          </a:xfrm>
          <a:prstGeom prst="rect">
            <a:avLst/>
          </a:prstGeom>
          <a:noFill/>
          <a:ln/>
        </p:spPr>
        <p:txBody>
          <a:bodyPr wrap="square" lIns="0" tIns="0" rIns="0" bIns="0" rtlCol="0" anchor="t"/>
          <a:lstStyle/>
          <a:p>
            <a:pPr marL="0" indent="0" algn="l">
              <a:buNone/>
            </a:pPr>
            <a:r>
              <a:rPr lang="en-US" sz="1400" b="1" dirty="0">
                <a:solidFill>
                  <a:srgbClr val="2E8B8B"/>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928670" y="2344787"/>
            <a:ext cx="1037927" cy="584002"/>
          </a:xfrm>
          <a:prstGeom prst="roundRect">
            <a:avLst>
              <a:gd name="adj" fmla="val 8699"/>
            </a:avLst>
          </a:prstGeom>
          <a:solidFill>
            <a:srgbClr val="1B2A4A"/>
          </a:solidFill>
          <a:ln/>
        </p:spPr>
        <p:txBody>
          <a:bodyPr wrap="square" rtlCol="0" anchor="ctr"/>
          <a:lstStyle/>
          <a:p>
            <a:pPr marL="0" indent="0">
              <a:buNone/>
            </a:pPr>
            <a:endParaRPr lang="en-US" dirty="0"/>
          </a:p>
        </p:txBody>
      </p:sp>
      <p:sp>
        <p:nvSpPr>
          <p:cNvPr id="36" name="Text 34"/>
          <p:cNvSpPr/>
          <p:nvPr/>
        </p:nvSpPr>
        <p:spPr>
          <a:xfrm>
            <a:off x="7957152" y="2420987"/>
            <a:ext cx="980962" cy="95250"/>
          </a:xfrm>
          <a:prstGeom prst="rect">
            <a:avLst/>
          </a:prstGeom>
          <a:noFill/>
          <a:ln/>
        </p:spPr>
        <p:txBody>
          <a:bodyPr wrap="square" lIns="0" tIns="0" rIns="0" bIns="0" rtlCol="0" anchor="t"/>
          <a:lstStyle/>
          <a:p>
            <a:pPr marL="0" indent="0" algn="ctr">
              <a:buNone/>
            </a:pPr>
            <a:r>
              <a:rPr lang="en-US" sz="700" b="1" dirty="0">
                <a:solidFill>
                  <a:srgbClr val="2E8B8B"/>
                </a:solidFill>
                <a:latin typeface="Arial" pitchFamily="34" charset="0"/>
                <a:ea typeface="Arial" pitchFamily="34" charset="-122"/>
                <a:cs typeface="Arial" pitchFamily="34" charset="-120"/>
              </a:rPr>
              <a:t>6</a:t>
            </a:r>
            <a:endParaRPr lang="en-US" sz="700" dirty="0"/>
          </a:p>
        </p:txBody>
      </p:sp>
      <p:sp>
        <p:nvSpPr>
          <p:cNvPr id="37" name="Text 35"/>
          <p:cNvSpPr/>
          <p:nvPr/>
        </p:nvSpPr>
        <p:spPr>
          <a:xfrm>
            <a:off x="7957152" y="2541538"/>
            <a:ext cx="980962" cy="114300"/>
          </a:xfrm>
          <a:prstGeom prst="rect">
            <a:avLst/>
          </a:prstGeom>
          <a:noFill/>
          <a:ln/>
        </p:spPr>
        <p:txBody>
          <a:bodyPr wrap="square" lIns="0" tIns="0" rIns="0" bIns="0" rtlCol="0" anchor="t"/>
          <a:lstStyle/>
          <a:p>
            <a:pPr marL="0" indent="0" algn="ctr">
              <a:spcBef>
                <a:spcPts val="200"/>
              </a:spcBef>
              <a:spcAft>
                <a:spcPts val="200"/>
              </a:spcAft>
              <a:buNone/>
            </a:pPr>
            <a:r>
              <a:rPr lang="en-US" sz="800" b="1" dirty="0">
                <a:solidFill>
                  <a:srgbClr val="FFFFFF"/>
                </a:solidFill>
                <a:latin typeface="Arial" pitchFamily="34" charset="0"/>
                <a:ea typeface="Arial" pitchFamily="34" charset="-122"/>
                <a:cs typeface="Arial" pitchFamily="34" charset="-120"/>
              </a:rPr>
              <a:t>PERSIST</a:t>
            </a:r>
            <a:endParaRPr lang="en-US" sz="800" dirty="0"/>
          </a:p>
        </p:txBody>
      </p:sp>
      <p:sp>
        <p:nvSpPr>
          <p:cNvPr id="38" name="Text 36"/>
          <p:cNvSpPr/>
          <p:nvPr/>
        </p:nvSpPr>
        <p:spPr>
          <a:xfrm>
            <a:off x="7957152" y="2681139"/>
            <a:ext cx="980962" cy="85725"/>
          </a:xfrm>
          <a:prstGeom prst="rect">
            <a:avLst/>
          </a:prstGeom>
          <a:noFill/>
          <a:ln/>
        </p:spPr>
        <p:txBody>
          <a:bodyPr wrap="square" lIns="0" tIns="0" rIns="0" bIns="0" rtlCol="0" anchor="t"/>
          <a:lstStyle/>
          <a:p>
            <a:pPr marL="0" indent="0" algn="ctr">
              <a:buNone/>
            </a:pPr>
            <a:r>
              <a:rPr lang="en-US" sz="550" dirty="0">
                <a:solidFill>
                  <a:srgbClr val="94A3B8"/>
                </a:solidFill>
                <a:latin typeface="Arial" pitchFamily="34" charset="0"/>
                <a:ea typeface="Arial" pitchFamily="34" charset="-122"/>
                <a:cs typeface="Arial" pitchFamily="34" charset="-120"/>
              </a:rPr>
              <a:t>Generate knowledge graph</a:t>
            </a:r>
            <a:endParaRPr lang="en-US" sz="550" dirty="0"/>
          </a:p>
        </p:txBody>
      </p:sp>
      <p:sp>
        <p:nvSpPr>
          <p:cNvPr id="39" name="Text 37"/>
          <p:cNvSpPr/>
          <p:nvPr/>
        </p:nvSpPr>
        <p:spPr>
          <a:xfrm>
            <a:off x="837009" y="3233440"/>
            <a:ext cx="421184"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40" name="Text 38"/>
          <p:cNvSpPr/>
          <p:nvPr/>
        </p:nvSpPr>
        <p:spPr>
          <a:xfrm>
            <a:off x="935385" y="3281065"/>
            <a:ext cx="228921"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HGNC</a:t>
            </a:r>
            <a:endParaRPr lang="en-US" sz="600" dirty="0"/>
          </a:p>
        </p:txBody>
      </p:sp>
      <p:sp>
        <p:nvSpPr>
          <p:cNvPr id="41" name="Text 39"/>
          <p:cNvSpPr/>
          <p:nvPr/>
        </p:nvSpPr>
        <p:spPr>
          <a:xfrm>
            <a:off x="1308943" y="3233440"/>
            <a:ext cx="501700"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42" name="Text 40"/>
          <p:cNvSpPr/>
          <p:nvPr/>
        </p:nvSpPr>
        <p:spPr>
          <a:xfrm>
            <a:off x="1407319" y="3281065"/>
            <a:ext cx="311048"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ChEMBL</a:t>
            </a:r>
            <a:endParaRPr lang="en-US" sz="600" dirty="0"/>
          </a:p>
        </p:txBody>
      </p:sp>
      <p:sp>
        <p:nvSpPr>
          <p:cNvPr id="43" name="Text 41"/>
          <p:cNvSpPr/>
          <p:nvPr/>
        </p:nvSpPr>
        <p:spPr>
          <a:xfrm>
            <a:off x="1861393" y="3233440"/>
            <a:ext cx="450949"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44" name="Text 42"/>
          <p:cNvSpPr/>
          <p:nvPr/>
        </p:nvSpPr>
        <p:spPr>
          <a:xfrm>
            <a:off x="1959769" y="3281065"/>
            <a:ext cx="259282"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UniProt</a:t>
            </a:r>
            <a:endParaRPr lang="en-US" sz="600" dirty="0"/>
          </a:p>
        </p:txBody>
      </p:sp>
      <p:sp>
        <p:nvSpPr>
          <p:cNvPr id="45" name="Text 43"/>
          <p:cNvSpPr/>
          <p:nvPr/>
        </p:nvSpPr>
        <p:spPr>
          <a:xfrm>
            <a:off x="2363093" y="3233440"/>
            <a:ext cx="493216"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46" name="Text 44"/>
          <p:cNvSpPr/>
          <p:nvPr/>
        </p:nvSpPr>
        <p:spPr>
          <a:xfrm>
            <a:off x="2461468" y="3281065"/>
            <a:ext cx="302395"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Ensembl</a:t>
            </a:r>
            <a:endParaRPr lang="en-US" sz="600" dirty="0"/>
          </a:p>
        </p:txBody>
      </p:sp>
      <p:sp>
        <p:nvSpPr>
          <p:cNvPr id="47" name="Text 45"/>
          <p:cNvSpPr/>
          <p:nvPr/>
        </p:nvSpPr>
        <p:spPr>
          <a:xfrm>
            <a:off x="2907060" y="3233440"/>
            <a:ext cx="484733"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48" name="Text 46"/>
          <p:cNvSpPr/>
          <p:nvPr/>
        </p:nvSpPr>
        <p:spPr>
          <a:xfrm>
            <a:off x="3005435" y="3281065"/>
            <a:ext cx="293742"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STRING</a:t>
            </a:r>
            <a:endParaRPr lang="en-US" sz="600" dirty="0"/>
          </a:p>
        </p:txBody>
      </p:sp>
      <p:sp>
        <p:nvSpPr>
          <p:cNvPr id="49" name="Text 47"/>
          <p:cNvSpPr/>
          <p:nvPr/>
        </p:nvSpPr>
        <p:spPr>
          <a:xfrm>
            <a:off x="3442543" y="3233440"/>
            <a:ext cx="497384"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50" name="Text 48"/>
          <p:cNvSpPr/>
          <p:nvPr/>
        </p:nvSpPr>
        <p:spPr>
          <a:xfrm>
            <a:off x="3540919" y="3281065"/>
            <a:ext cx="306645"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BioGRID</a:t>
            </a:r>
            <a:endParaRPr lang="en-US" sz="600" dirty="0"/>
          </a:p>
        </p:txBody>
      </p:sp>
      <p:sp>
        <p:nvSpPr>
          <p:cNvPr id="51" name="Text 49"/>
          <p:cNvSpPr/>
          <p:nvPr/>
        </p:nvSpPr>
        <p:spPr>
          <a:xfrm>
            <a:off x="3990677" y="3233440"/>
            <a:ext cx="652909"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52" name="Text 50"/>
          <p:cNvSpPr/>
          <p:nvPr/>
        </p:nvSpPr>
        <p:spPr>
          <a:xfrm>
            <a:off x="4089053" y="3281065"/>
            <a:ext cx="465281"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Open Targets</a:t>
            </a:r>
            <a:endParaRPr lang="en-US" sz="600" dirty="0"/>
          </a:p>
        </p:txBody>
      </p:sp>
      <p:sp>
        <p:nvSpPr>
          <p:cNvPr id="53" name="Text 51"/>
          <p:cNvSpPr/>
          <p:nvPr/>
        </p:nvSpPr>
        <p:spPr>
          <a:xfrm>
            <a:off x="4694337" y="3233440"/>
            <a:ext cx="535632"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54" name="Text 52"/>
          <p:cNvSpPr/>
          <p:nvPr/>
        </p:nvSpPr>
        <p:spPr>
          <a:xfrm>
            <a:off x="4792712" y="3281065"/>
            <a:ext cx="345659"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PubChem</a:t>
            </a:r>
            <a:endParaRPr lang="en-US" sz="600" dirty="0"/>
          </a:p>
        </p:txBody>
      </p:sp>
      <p:sp>
        <p:nvSpPr>
          <p:cNvPr id="55" name="Text 53"/>
          <p:cNvSpPr/>
          <p:nvPr/>
        </p:nvSpPr>
        <p:spPr>
          <a:xfrm>
            <a:off x="5280720" y="3233440"/>
            <a:ext cx="671066"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56" name="Text 54"/>
          <p:cNvSpPr/>
          <p:nvPr/>
        </p:nvSpPr>
        <p:spPr>
          <a:xfrm>
            <a:off x="5379095" y="3281065"/>
            <a:ext cx="483802"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WikiPathways</a:t>
            </a:r>
            <a:endParaRPr lang="en-US" sz="600" dirty="0"/>
          </a:p>
        </p:txBody>
      </p:sp>
      <p:sp>
        <p:nvSpPr>
          <p:cNvPr id="57" name="Text 55"/>
          <p:cNvSpPr/>
          <p:nvPr/>
        </p:nvSpPr>
        <p:spPr>
          <a:xfrm>
            <a:off x="6002536" y="3233440"/>
            <a:ext cx="769888"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58" name="Text 56"/>
          <p:cNvSpPr/>
          <p:nvPr/>
        </p:nvSpPr>
        <p:spPr>
          <a:xfrm>
            <a:off x="6100911" y="3281065"/>
            <a:ext cx="584600"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ClinicalTrials.gov</a:t>
            </a:r>
            <a:endParaRPr lang="en-US" sz="600" dirty="0"/>
          </a:p>
        </p:txBody>
      </p:sp>
      <p:sp>
        <p:nvSpPr>
          <p:cNvPr id="59" name="Text 57"/>
          <p:cNvSpPr/>
          <p:nvPr/>
        </p:nvSpPr>
        <p:spPr>
          <a:xfrm>
            <a:off x="6823174" y="3233440"/>
            <a:ext cx="480566"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60" name="Text 58"/>
          <p:cNvSpPr/>
          <p:nvPr/>
        </p:nvSpPr>
        <p:spPr>
          <a:xfrm>
            <a:off x="6921550" y="3281065"/>
            <a:ext cx="289492"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PubMed</a:t>
            </a:r>
            <a:endParaRPr lang="en-US" sz="600" dirty="0"/>
          </a:p>
        </p:txBody>
      </p:sp>
      <p:sp>
        <p:nvSpPr>
          <p:cNvPr id="61" name="Text 59"/>
          <p:cNvSpPr/>
          <p:nvPr/>
        </p:nvSpPr>
        <p:spPr>
          <a:xfrm>
            <a:off x="7354491" y="3233440"/>
            <a:ext cx="417016"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62" name="Text 60"/>
          <p:cNvSpPr/>
          <p:nvPr/>
        </p:nvSpPr>
        <p:spPr>
          <a:xfrm>
            <a:off x="7452866" y="3281065"/>
            <a:ext cx="224671"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Entrez</a:t>
            </a:r>
            <a:endParaRPr lang="en-US" sz="600" dirty="0"/>
          </a:p>
        </p:txBody>
      </p:sp>
      <p:sp>
        <p:nvSpPr>
          <p:cNvPr id="63" name="Text 61"/>
          <p:cNvSpPr/>
          <p:nvPr/>
        </p:nvSpPr>
        <p:spPr>
          <a:xfrm>
            <a:off x="7822257" y="3233440"/>
            <a:ext cx="484733" cy="180975"/>
          </a:xfrm>
          <a:prstGeom prst="roundRect">
            <a:avLst>
              <a:gd name="adj" fmla="val 70175"/>
            </a:avLst>
          </a:prstGeom>
          <a:solidFill>
            <a:srgbClr val="F0F2F5"/>
          </a:solidFill>
          <a:ln w="9525">
            <a:solidFill>
              <a:srgbClr val="D1D5DB"/>
            </a:solidFill>
          </a:ln>
        </p:spPr>
        <p:txBody>
          <a:bodyPr wrap="square" rtlCol="0" anchor="ctr"/>
          <a:lstStyle/>
          <a:p>
            <a:pPr marL="0" indent="0">
              <a:buNone/>
            </a:pPr>
            <a:endParaRPr lang="en-US" dirty="0"/>
          </a:p>
        </p:txBody>
      </p:sp>
      <p:sp>
        <p:nvSpPr>
          <p:cNvPr id="64" name="Text 62"/>
          <p:cNvSpPr/>
          <p:nvPr/>
        </p:nvSpPr>
        <p:spPr>
          <a:xfrm>
            <a:off x="7920633" y="3281065"/>
            <a:ext cx="293742" cy="85725"/>
          </a:xfrm>
          <a:prstGeom prst="rect">
            <a:avLst/>
          </a:prstGeom>
          <a:noFill/>
          <a:ln/>
        </p:spPr>
        <p:txBody>
          <a:bodyPr wrap="square" lIns="0" tIns="0" rIns="0" bIns="0" rtlCol="0" anchor="t"/>
          <a:lstStyle/>
          <a:p>
            <a:pPr marL="0" indent="0" algn="l">
              <a:buNone/>
            </a:pPr>
            <a:r>
              <a:rPr lang="en-US" sz="600" dirty="0">
                <a:solidFill>
                  <a:srgbClr val="1B2A4A"/>
                </a:solidFill>
                <a:latin typeface="Arial" pitchFamily="34" charset="0"/>
                <a:ea typeface="Arial" pitchFamily="34" charset="-122"/>
                <a:cs typeface="Arial" pitchFamily="34" charset="-120"/>
              </a:rPr>
              <a:t>IUPHAR</a:t>
            </a:r>
            <a:endParaRPr lang="en-US" sz="600" dirty="0"/>
          </a:p>
        </p:txBody>
      </p:sp>
      <p:sp>
        <p:nvSpPr>
          <p:cNvPr id="65" name="Text 63"/>
          <p:cNvSpPr/>
          <p:nvPr/>
        </p:nvSpPr>
        <p:spPr>
          <a:xfrm>
            <a:off x="89815" y="3719066"/>
            <a:ext cx="8964370" cy="95250"/>
          </a:xfrm>
          <a:prstGeom prst="rect">
            <a:avLst/>
          </a:prstGeom>
          <a:noFill/>
          <a:ln/>
        </p:spPr>
        <p:txBody>
          <a:bodyPr wrap="square" lIns="0" tIns="0" rIns="0" bIns="0" rtlCol="0" anchor="t"/>
          <a:lstStyle/>
          <a:p>
            <a:pPr marL="0" indent="0" algn="ctr">
              <a:buNone/>
            </a:pPr>
            <a:r>
              <a:rPr lang="en-US" sz="700" dirty="0">
                <a:solidFill>
                  <a:srgbClr val="6B7280"/>
                </a:solidFill>
                <a:latin typeface="Arial" pitchFamily="34" charset="0"/>
                <a:ea typeface="Arial" pitchFamily="34" charset="-122"/>
                <a:cs typeface="Arial" pitchFamily="34" charset="-120"/>
              </a:rPr>
              <a:t>13 biomedical APIs orchestrated across 7 phases with dedicated specialist agents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Production Results</a:t>
            </a:r>
            <a:endParaRPr lang="en-US" sz="2200" dirty="0"/>
          </a:p>
        </p:txBody>
      </p:sp>
      <p:sp>
        <p:nvSpPr>
          <p:cNvPr id="4" name="Text 2"/>
          <p:cNvSpPr/>
          <p:nvPr/>
        </p:nvSpPr>
        <p:spPr>
          <a:xfrm>
            <a:off x="355550" y="2366814"/>
            <a:ext cx="1564630" cy="1006376"/>
          </a:xfrm>
          <a:prstGeom prst="roundRect">
            <a:avLst>
              <a:gd name="adj" fmla="val 7572"/>
            </a:avLst>
          </a:prstGeom>
          <a:solidFill>
            <a:srgbClr val="F0F2F5"/>
          </a:solidFill>
          <a:ln/>
        </p:spPr>
        <p:txBody>
          <a:bodyPr wrap="square" rtlCol="0" anchor="ctr"/>
          <a:lstStyle/>
          <a:p>
            <a:pPr marL="0" indent="0">
              <a:buNone/>
            </a:pPr>
            <a:endParaRPr lang="en-US" dirty="0"/>
          </a:p>
        </p:txBody>
      </p:sp>
      <p:sp>
        <p:nvSpPr>
          <p:cNvPr id="5" name="Shape 3"/>
          <p:cNvSpPr/>
          <p:nvPr/>
        </p:nvSpPr>
        <p:spPr>
          <a:xfrm>
            <a:off x="355550" y="2385864"/>
            <a:ext cx="1564630" cy="0"/>
          </a:xfrm>
          <a:prstGeom prst="line">
            <a:avLst/>
          </a:prstGeom>
          <a:noFill/>
          <a:ln w="38100">
            <a:solidFill>
              <a:srgbClr val="2E8B8B"/>
            </a:solidFill>
            <a:prstDash val="solid"/>
          </a:ln>
        </p:spPr>
        <p:txBody>
          <a:bodyPr/>
          <a:lstStyle/>
          <a:p>
            <a:endParaRPr lang="en-US"/>
          </a:p>
        </p:txBody>
      </p:sp>
      <p:sp>
        <p:nvSpPr>
          <p:cNvPr id="6" name="Text 4"/>
          <p:cNvSpPr/>
          <p:nvPr/>
        </p:nvSpPr>
        <p:spPr>
          <a:xfrm>
            <a:off x="443435" y="2608064"/>
            <a:ext cx="1388861" cy="371475"/>
          </a:xfrm>
          <a:prstGeom prst="rect">
            <a:avLst/>
          </a:prstGeom>
          <a:noFill/>
          <a:ln/>
        </p:spPr>
        <p:txBody>
          <a:bodyPr wrap="square" lIns="0" tIns="0" rIns="0" bIns="0" rtlCol="0" anchor="t"/>
          <a:lstStyle/>
          <a:p>
            <a:pPr marL="0" indent="0" algn="ctr">
              <a:buNone/>
            </a:pPr>
            <a:r>
              <a:rPr lang="en-US" sz="2600" b="1" dirty="0">
                <a:solidFill>
                  <a:srgbClr val="1B2A4A"/>
                </a:solidFill>
                <a:latin typeface="Arial" pitchFamily="34" charset="0"/>
                <a:ea typeface="Arial" pitchFamily="34" charset="-122"/>
                <a:cs typeface="Arial" pitchFamily="34" charset="-120"/>
              </a:rPr>
              <a:t>5</a:t>
            </a:r>
            <a:endParaRPr lang="en-US" sz="2600" dirty="0"/>
          </a:p>
        </p:txBody>
      </p:sp>
      <p:sp>
        <p:nvSpPr>
          <p:cNvPr id="7" name="Text 5"/>
          <p:cNvSpPr/>
          <p:nvPr/>
        </p:nvSpPr>
        <p:spPr>
          <a:xfrm>
            <a:off x="443435" y="3055739"/>
            <a:ext cx="1388861" cy="114300"/>
          </a:xfrm>
          <a:prstGeom prst="rect">
            <a:avLst/>
          </a:prstGeom>
          <a:noFill/>
          <a:ln/>
        </p:spPr>
        <p:txBody>
          <a:bodyPr wrap="square" lIns="0" tIns="0" rIns="0" bIns="0" rtlCol="0" anchor="t"/>
          <a:lstStyle/>
          <a:p>
            <a:pPr marL="0" indent="0" algn="ctr">
              <a:spcBef>
                <a:spcPts val="600"/>
              </a:spcBef>
              <a:buNone/>
            </a:pPr>
            <a:r>
              <a:rPr lang="en-US" sz="800" dirty="0">
                <a:solidFill>
                  <a:srgbClr val="6B7280"/>
                </a:solidFill>
                <a:latin typeface="Arial" pitchFamily="34" charset="0"/>
                <a:ea typeface="Arial" pitchFamily="34" charset="-122"/>
                <a:cs typeface="Arial" pitchFamily="34" charset="-120"/>
              </a:rPr>
              <a:t>Reports Generated</a:t>
            </a:r>
            <a:endParaRPr lang="en-US" sz="800" dirty="0"/>
          </a:p>
        </p:txBody>
      </p:sp>
      <p:sp>
        <p:nvSpPr>
          <p:cNvPr id="8" name="Text 6"/>
          <p:cNvSpPr/>
          <p:nvPr/>
        </p:nvSpPr>
        <p:spPr>
          <a:xfrm>
            <a:off x="2072580" y="2366814"/>
            <a:ext cx="1564630" cy="1006376"/>
          </a:xfrm>
          <a:prstGeom prst="roundRect">
            <a:avLst>
              <a:gd name="adj" fmla="val 7572"/>
            </a:avLst>
          </a:prstGeom>
          <a:solidFill>
            <a:srgbClr val="F0F2F5"/>
          </a:solidFill>
          <a:ln/>
        </p:spPr>
        <p:txBody>
          <a:bodyPr wrap="square" rtlCol="0" anchor="ctr"/>
          <a:lstStyle/>
          <a:p>
            <a:pPr marL="0" indent="0">
              <a:buNone/>
            </a:pPr>
            <a:endParaRPr lang="en-US" dirty="0"/>
          </a:p>
        </p:txBody>
      </p:sp>
      <p:sp>
        <p:nvSpPr>
          <p:cNvPr id="9" name="Shape 7"/>
          <p:cNvSpPr/>
          <p:nvPr/>
        </p:nvSpPr>
        <p:spPr>
          <a:xfrm>
            <a:off x="2072580" y="2385864"/>
            <a:ext cx="1564630" cy="0"/>
          </a:xfrm>
          <a:prstGeom prst="line">
            <a:avLst/>
          </a:prstGeom>
          <a:noFill/>
          <a:ln w="38100">
            <a:solidFill>
              <a:srgbClr val="2E8B8B"/>
            </a:solidFill>
            <a:prstDash val="solid"/>
          </a:ln>
        </p:spPr>
        <p:txBody>
          <a:bodyPr/>
          <a:lstStyle/>
          <a:p>
            <a:endParaRPr lang="en-US"/>
          </a:p>
        </p:txBody>
      </p:sp>
      <p:sp>
        <p:nvSpPr>
          <p:cNvPr id="10" name="Text 8"/>
          <p:cNvSpPr/>
          <p:nvPr/>
        </p:nvSpPr>
        <p:spPr>
          <a:xfrm>
            <a:off x="2160465" y="2608064"/>
            <a:ext cx="1388861" cy="371475"/>
          </a:xfrm>
          <a:prstGeom prst="rect">
            <a:avLst/>
          </a:prstGeom>
          <a:noFill/>
          <a:ln/>
        </p:spPr>
        <p:txBody>
          <a:bodyPr wrap="square" lIns="0" tIns="0" rIns="0" bIns="0" rtlCol="0" anchor="t"/>
          <a:lstStyle/>
          <a:p>
            <a:pPr marL="0" indent="0" algn="ctr">
              <a:buNone/>
            </a:pPr>
            <a:r>
              <a:rPr lang="en-US" sz="2600" b="1" dirty="0">
                <a:solidFill>
                  <a:srgbClr val="1B2A4A"/>
                </a:solidFill>
                <a:latin typeface="Arial" pitchFamily="34" charset="0"/>
                <a:ea typeface="Arial" pitchFamily="34" charset="-122"/>
                <a:cs typeface="Arial" pitchFamily="34" charset="-120"/>
              </a:rPr>
              <a:t>9.3/10</a:t>
            </a:r>
            <a:endParaRPr lang="en-US" sz="2600" dirty="0"/>
          </a:p>
        </p:txBody>
      </p:sp>
      <p:sp>
        <p:nvSpPr>
          <p:cNvPr id="11" name="Text 9"/>
          <p:cNvSpPr/>
          <p:nvPr/>
        </p:nvSpPr>
        <p:spPr>
          <a:xfrm>
            <a:off x="2160465" y="3055739"/>
            <a:ext cx="1388861" cy="114300"/>
          </a:xfrm>
          <a:prstGeom prst="rect">
            <a:avLst/>
          </a:prstGeom>
          <a:noFill/>
          <a:ln/>
        </p:spPr>
        <p:txBody>
          <a:bodyPr wrap="square" lIns="0" tIns="0" rIns="0" bIns="0" rtlCol="0" anchor="t"/>
          <a:lstStyle/>
          <a:p>
            <a:pPr marL="0" indent="0" algn="ctr">
              <a:spcBef>
                <a:spcPts val="600"/>
              </a:spcBef>
              <a:buNone/>
            </a:pPr>
            <a:r>
              <a:rPr lang="en-US" sz="800" dirty="0">
                <a:solidFill>
                  <a:srgbClr val="6B7280"/>
                </a:solidFill>
                <a:latin typeface="Arial" pitchFamily="34" charset="0"/>
                <a:ea typeface="Arial" pitchFamily="34" charset="-122"/>
                <a:cs typeface="Arial" pitchFamily="34" charset="-120"/>
              </a:rPr>
              <a:t>Median Quality</a:t>
            </a:r>
            <a:endParaRPr lang="en-US" sz="800" dirty="0"/>
          </a:p>
        </p:txBody>
      </p:sp>
      <p:sp>
        <p:nvSpPr>
          <p:cNvPr id="12" name="Text 10"/>
          <p:cNvSpPr/>
          <p:nvPr/>
        </p:nvSpPr>
        <p:spPr>
          <a:xfrm>
            <a:off x="3789611" y="2366814"/>
            <a:ext cx="1564630" cy="1006376"/>
          </a:xfrm>
          <a:prstGeom prst="roundRect">
            <a:avLst>
              <a:gd name="adj" fmla="val 7572"/>
            </a:avLst>
          </a:prstGeom>
          <a:solidFill>
            <a:srgbClr val="F0F2F5"/>
          </a:solidFill>
          <a:ln/>
        </p:spPr>
        <p:txBody>
          <a:bodyPr wrap="square" rtlCol="0" anchor="ctr"/>
          <a:lstStyle/>
          <a:p>
            <a:pPr marL="0" indent="0">
              <a:buNone/>
            </a:pPr>
            <a:endParaRPr lang="en-US" dirty="0"/>
          </a:p>
        </p:txBody>
      </p:sp>
      <p:sp>
        <p:nvSpPr>
          <p:cNvPr id="13" name="Shape 11"/>
          <p:cNvSpPr/>
          <p:nvPr/>
        </p:nvSpPr>
        <p:spPr>
          <a:xfrm>
            <a:off x="3789611" y="2385864"/>
            <a:ext cx="1564630" cy="0"/>
          </a:xfrm>
          <a:prstGeom prst="line">
            <a:avLst/>
          </a:prstGeom>
          <a:noFill/>
          <a:ln w="38100">
            <a:solidFill>
              <a:srgbClr val="2E8B8B"/>
            </a:solidFill>
            <a:prstDash val="solid"/>
          </a:ln>
        </p:spPr>
        <p:txBody>
          <a:bodyPr/>
          <a:lstStyle/>
          <a:p>
            <a:endParaRPr lang="en-US"/>
          </a:p>
        </p:txBody>
      </p:sp>
      <p:sp>
        <p:nvSpPr>
          <p:cNvPr id="14" name="Text 12"/>
          <p:cNvSpPr/>
          <p:nvPr/>
        </p:nvSpPr>
        <p:spPr>
          <a:xfrm>
            <a:off x="3877495" y="2608064"/>
            <a:ext cx="1388861" cy="371475"/>
          </a:xfrm>
          <a:prstGeom prst="rect">
            <a:avLst/>
          </a:prstGeom>
          <a:noFill/>
          <a:ln/>
        </p:spPr>
        <p:txBody>
          <a:bodyPr wrap="square" lIns="0" tIns="0" rIns="0" bIns="0" rtlCol="0" anchor="t"/>
          <a:lstStyle/>
          <a:p>
            <a:pPr marL="0" indent="0" algn="ctr">
              <a:buNone/>
            </a:pPr>
            <a:r>
              <a:rPr lang="en-US" sz="2600" b="1" dirty="0">
                <a:solidFill>
                  <a:srgbClr val="1B2A4A"/>
                </a:solidFill>
                <a:latin typeface="Arial" pitchFamily="34" charset="0"/>
                <a:ea typeface="Arial" pitchFamily="34" charset="-122"/>
                <a:cs typeface="Arial" pitchFamily="34" charset="-120"/>
              </a:rPr>
              <a:t>9.7/10</a:t>
            </a:r>
            <a:endParaRPr lang="en-US" sz="2600" dirty="0"/>
          </a:p>
        </p:txBody>
      </p:sp>
      <p:sp>
        <p:nvSpPr>
          <p:cNvPr id="15" name="Text 13"/>
          <p:cNvSpPr/>
          <p:nvPr/>
        </p:nvSpPr>
        <p:spPr>
          <a:xfrm>
            <a:off x="3877495" y="3055739"/>
            <a:ext cx="1388861" cy="114300"/>
          </a:xfrm>
          <a:prstGeom prst="rect">
            <a:avLst/>
          </a:prstGeom>
          <a:noFill/>
          <a:ln/>
        </p:spPr>
        <p:txBody>
          <a:bodyPr wrap="square" lIns="0" tIns="0" rIns="0" bIns="0" rtlCol="0" anchor="t"/>
          <a:lstStyle/>
          <a:p>
            <a:pPr marL="0" indent="0" algn="ctr">
              <a:spcBef>
                <a:spcPts val="600"/>
              </a:spcBef>
              <a:buNone/>
            </a:pPr>
            <a:r>
              <a:rPr lang="en-US" sz="800" dirty="0">
                <a:solidFill>
                  <a:srgbClr val="6B7280"/>
                </a:solidFill>
                <a:latin typeface="Arial" pitchFamily="34" charset="0"/>
                <a:ea typeface="Arial" pitchFamily="34" charset="-122"/>
                <a:cs typeface="Arial" pitchFamily="34" charset="-120"/>
              </a:rPr>
              <a:t>Protocol Execution</a:t>
            </a:r>
            <a:endParaRPr lang="en-US" sz="800" dirty="0"/>
          </a:p>
        </p:txBody>
      </p:sp>
      <p:sp>
        <p:nvSpPr>
          <p:cNvPr id="16" name="Text 14"/>
          <p:cNvSpPr/>
          <p:nvPr/>
        </p:nvSpPr>
        <p:spPr>
          <a:xfrm>
            <a:off x="5506641" y="2366814"/>
            <a:ext cx="1564630" cy="1006376"/>
          </a:xfrm>
          <a:prstGeom prst="roundRect">
            <a:avLst>
              <a:gd name="adj" fmla="val 7572"/>
            </a:avLst>
          </a:prstGeom>
          <a:solidFill>
            <a:srgbClr val="F0F2F5"/>
          </a:solidFill>
          <a:ln/>
        </p:spPr>
        <p:txBody>
          <a:bodyPr wrap="square" rtlCol="0" anchor="ctr"/>
          <a:lstStyle/>
          <a:p>
            <a:pPr marL="0" indent="0">
              <a:buNone/>
            </a:pPr>
            <a:endParaRPr lang="en-US" dirty="0"/>
          </a:p>
        </p:txBody>
      </p:sp>
      <p:sp>
        <p:nvSpPr>
          <p:cNvPr id="17" name="Shape 15"/>
          <p:cNvSpPr/>
          <p:nvPr/>
        </p:nvSpPr>
        <p:spPr>
          <a:xfrm>
            <a:off x="5506641" y="2385864"/>
            <a:ext cx="1564630" cy="0"/>
          </a:xfrm>
          <a:prstGeom prst="line">
            <a:avLst/>
          </a:prstGeom>
          <a:noFill/>
          <a:ln w="38100">
            <a:solidFill>
              <a:srgbClr val="2E8B8B"/>
            </a:solidFill>
            <a:prstDash val="solid"/>
          </a:ln>
        </p:spPr>
        <p:txBody>
          <a:bodyPr/>
          <a:lstStyle/>
          <a:p>
            <a:endParaRPr lang="en-US"/>
          </a:p>
        </p:txBody>
      </p:sp>
      <p:sp>
        <p:nvSpPr>
          <p:cNvPr id="18" name="Text 16"/>
          <p:cNvSpPr/>
          <p:nvPr/>
        </p:nvSpPr>
        <p:spPr>
          <a:xfrm>
            <a:off x="5594525" y="2608064"/>
            <a:ext cx="1388861" cy="371475"/>
          </a:xfrm>
          <a:prstGeom prst="rect">
            <a:avLst/>
          </a:prstGeom>
          <a:noFill/>
          <a:ln/>
        </p:spPr>
        <p:txBody>
          <a:bodyPr wrap="square" lIns="0" tIns="0" rIns="0" bIns="0" rtlCol="0" anchor="t"/>
          <a:lstStyle/>
          <a:p>
            <a:pPr marL="0" indent="0" algn="ctr">
              <a:buNone/>
            </a:pPr>
            <a:r>
              <a:rPr lang="en-US" sz="2600" b="1" dirty="0">
                <a:solidFill>
                  <a:srgbClr val="1B2A4A"/>
                </a:solidFill>
                <a:latin typeface="Arial" pitchFamily="34" charset="0"/>
                <a:ea typeface="Arial" pitchFamily="34" charset="-122"/>
                <a:cs typeface="Arial" pitchFamily="34" charset="-120"/>
              </a:rPr>
              <a:t>0</a:t>
            </a:r>
            <a:endParaRPr lang="en-US" sz="2600" dirty="0"/>
          </a:p>
        </p:txBody>
      </p:sp>
      <p:sp>
        <p:nvSpPr>
          <p:cNvPr id="19" name="Text 17"/>
          <p:cNvSpPr/>
          <p:nvPr/>
        </p:nvSpPr>
        <p:spPr>
          <a:xfrm>
            <a:off x="5594525" y="3055739"/>
            <a:ext cx="1388861" cy="114300"/>
          </a:xfrm>
          <a:prstGeom prst="rect">
            <a:avLst/>
          </a:prstGeom>
          <a:noFill/>
          <a:ln/>
        </p:spPr>
        <p:txBody>
          <a:bodyPr wrap="square" lIns="0" tIns="0" rIns="0" bIns="0" rtlCol="0" anchor="t"/>
          <a:lstStyle/>
          <a:p>
            <a:pPr marL="0" indent="0" algn="ctr">
              <a:spcBef>
                <a:spcPts val="600"/>
              </a:spcBef>
              <a:buNone/>
            </a:pPr>
            <a:r>
              <a:rPr lang="en-US" sz="800" dirty="0">
                <a:solidFill>
                  <a:srgbClr val="6B7280"/>
                </a:solidFill>
                <a:latin typeface="Arial" pitchFamily="34" charset="0"/>
                <a:ea typeface="Arial" pitchFamily="34" charset="-122"/>
                <a:cs typeface="Arial" pitchFamily="34" charset="-120"/>
              </a:rPr>
              <a:t>Hallucinations</a:t>
            </a:r>
            <a:endParaRPr lang="en-US" sz="800" dirty="0"/>
          </a:p>
        </p:txBody>
      </p:sp>
      <p:sp>
        <p:nvSpPr>
          <p:cNvPr id="20" name="Text 18"/>
          <p:cNvSpPr/>
          <p:nvPr/>
        </p:nvSpPr>
        <p:spPr>
          <a:xfrm>
            <a:off x="7223671" y="2366814"/>
            <a:ext cx="1564630" cy="1006376"/>
          </a:xfrm>
          <a:prstGeom prst="roundRect">
            <a:avLst>
              <a:gd name="adj" fmla="val 7572"/>
            </a:avLst>
          </a:prstGeom>
          <a:solidFill>
            <a:srgbClr val="F0F2F5"/>
          </a:solidFill>
          <a:ln/>
        </p:spPr>
        <p:txBody>
          <a:bodyPr wrap="square" rtlCol="0" anchor="ctr"/>
          <a:lstStyle/>
          <a:p>
            <a:pPr marL="0" indent="0">
              <a:buNone/>
            </a:pPr>
            <a:endParaRPr lang="en-US" dirty="0"/>
          </a:p>
        </p:txBody>
      </p:sp>
      <p:sp>
        <p:nvSpPr>
          <p:cNvPr id="21" name="Shape 19"/>
          <p:cNvSpPr/>
          <p:nvPr/>
        </p:nvSpPr>
        <p:spPr>
          <a:xfrm>
            <a:off x="7223671" y="2385864"/>
            <a:ext cx="1564630" cy="0"/>
          </a:xfrm>
          <a:prstGeom prst="line">
            <a:avLst/>
          </a:prstGeom>
          <a:noFill/>
          <a:ln w="38100">
            <a:solidFill>
              <a:srgbClr val="2E8B8B"/>
            </a:solidFill>
            <a:prstDash val="solid"/>
          </a:ln>
        </p:spPr>
        <p:txBody>
          <a:bodyPr/>
          <a:lstStyle/>
          <a:p>
            <a:endParaRPr lang="en-US"/>
          </a:p>
        </p:txBody>
      </p:sp>
      <p:sp>
        <p:nvSpPr>
          <p:cNvPr id="22" name="Text 20"/>
          <p:cNvSpPr/>
          <p:nvPr/>
        </p:nvSpPr>
        <p:spPr>
          <a:xfrm>
            <a:off x="7311555" y="2608064"/>
            <a:ext cx="1388861" cy="371475"/>
          </a:xfrm>
          <a:prstGeom prst="rect">
            <a:avLst/>
          </a:prstGeom>
          <a:noFill/>
          <a:ln/>
        </p:spPr>
        <p:txBody>
          <a:bodyPr wrap="square" lIns="0" tIns="0" rIns="0" bIns="0" rtlCol="0" anchor="t"/>
          <a:lstStyle/>
          <a:p>
            <a:pPr marL="0" indent="0" algn="ctr">
              <a:buNone/>
            </a:pPr>
            <a:r>
              <a:rPr lang="en-US" sz="2600" b="1" dirty="0">
                <a:solidFill>
                  <a:srgbClr val="1B2A4A"/>
                </a:solidFill>
                <a:latin typeface="Arial" pitchFamily="34" charset="0"/>
                <a:ea typeface="Arial" pitchFamily="34" charset="-122"/>
                <a:cs typeface="Arial" pitchFamily="34" charset="-120"/>
              </a:rPr>
              <a:t>100%</a:t>
            </a:r>
            <a:endParaRPr lang="en-US" sz="2600" dirty="0"/>
          </a:p>
        </p:txBody>
      </p:sp>
      <p:sp>
        <p:nvSpPr>
          <p:cNvPr id="23" name="Text 21"/>
          <p:cNvSpPr/>
          <p:nvPr/>
        </p:nvSpPr>
        <p:spPr>
          <a:xfrm>
            <a:off x="7311555" y="3055739"/>
            <a:ext cx="1388861" cy="114300"/>
          </a:xfrm>
          <a:prstGeom prst="rect">
            <a:avLst/>
          </a:prstGeom>
          <a:noFill/>
          <a:ln/>
        </p:spPr>
        <p:txBody>
          <a:bodyPr wrap="square" lIns="0" tIns="0" rIns="0" bIns="0" rtlCol="0" anchor="t"/>
          <a:lstStyle/>
          <a:p>
            <a:pPr marL="0" indent="0" algn="ctr">
              <a:spcBef>
                <a:spcPts val="600"/>
              </a:spcBef>
              <a:buNone/>
            </a:pPr>
            <a:r>
              <a:rPr lang="en-US" sz="800" dirty="0">
                <a:solidFill>
                  <a:srgbClr val="6B7280"/>
                </a:solidFill>
                <a:latin typeface="Arial" pitchFamily="34" charset="0"/>
                <a:ea typeface="Arial" pitchFamily="34" charset="-122"/>
                <a:cs typeface="Arial" pitchFamily="34" charset="-120"/>
              </a:rPr>
              <a:t>NCT Verification</a:t>
            </a:r>
            <a:endParaRPr lang="en-US" sz="800" dirty="0"/>
          </a:p>
        </p:txBody>
      </p:sp>
      <p:sp>
        <p:nvSpPr>
          <p:cNvPr id="24" name="Text 22"/>
          <p:cNvSpPr/>
          <p:nvPr/>
        </p:nvSpPr>
        <p:spPr>
          <a:xfrm>
            <a:off x="271221" y="3576340"/>
            <a:ext cx="8601557" cy="114300"/>
          </a:xfrm>
          <a:prstGeom prst="rect">
            <a:avLst/>
          </a:prstGeom>
          <a:noFill/>
          <a:ln/>
        </p:spPr>
        <p:txBody>
          <a:bodyPr wrap="square" lIns="0" tIns="0" rIns="0" bIns="0" rtlCol="0" anchor="t"/>
          <a:lstStyle/>
          <a:p>
            <a:pPr marL="0" indent="0" algn="ctr">
              <a:spcBef>
                <a:spcPts val="1600"/>
              </a:spcBef>
              <a:buNone/>
            </a:pPr>
            <a:r>
              <a:rPr lang="en-US" sz="800" dirty="0">
                <a:solidFill>
                  <a:srgbClr val="6B7280"/>
                </a:solidFill>
                <a:latin typeface="Arial" pitchFamily="34" charset="0"/>
                <a:ea typeface="Arial" pitchFamily="34" charset="-122"/>
                <a:cs typeface="Arial" pitchFamily="34" charset="-120"/>
              </a:rPr>
              <a:t>Across 5 production reports covering drug mechanisms, synthetic lethality, gene networks, doxorubicin toxicity, and clinical landscape analysis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Case Study: Doxorubicin Cardiotoxicity in NF1</a:t>
            </a:r>
            <a:endParaRPr lang="en-US" sz="2200" dirty="0"/>
          </a:p>
        </p:txBody>
      </p:sp>
      <p:sp>
        <p:nvSpPr>
          <p:cNvPr id="4" name="Text 2"/>
          <p:cNvSpPr/>
          <p:nvPr/>
        </p:nvSpPr>
        <p:spPr>
          <a:xfrm>
            <a:off x="355550" y="552301"/>
            <a:ext cx="8601557" cy="152400"/>
          </a:xfrm>
          <a:prstGeom prst="rect">
            <a:avLst/>
          </a:prstGeom>
          <a:noFill/>
          <a:ln/>
        </p:spPr>
        <p:txBody>
          <a:bodyPr wrap="square" lIns="0" tIns="0" rIns="0" bIns="0" rtlCol="0" anchor="t"/>
          <a:lstStyle/>
          <a:p>
            <a:pPr marL="0" indent="0" algn="l">
              <a:spcBef>
                <a:spcPts val="400"/>
              </a:spcBef>
              <a:buNone/>
            </a:pPr>
            <a:r>
              <a:rPr lang="en-US" sz="1100" dirty="0">
                <a:solidFill>
                  <a:srgbClr val="94A3B8"/>
                </a:solidFill>
                <a:latin typeface="Arial" pitchFamily="34" charset="0"/>
                <a:ea typeface="Arial" pitchFamily="34" charset="-122"/>
                <a:cs typeface="Arial" pitchFamily="34" charset="-120"/>
              </a:rPr>
              <a:t>Directly relevant to Sage BioNetworks' Neurofibromatosis research</a:t>
            </a:r>
            <a:endParaRPr lang="en-US" sz="1100" dirty="0"/>
          </a:p>
        </p:txBody>
      </p:sp>
      <p:sp>
        <p:nvSpPr>
          <p:cNvPr id="5" name="Text 3"/>
          <p:cNvSpPr/>
          <p:nvPr/>
        </p:nvSpPr>
        <p:spPr>
          <a:xfrm>
            <a:off x="355550" y="1041053"/>
            <a:ext cx="4114949" cy="3962698"/>
          </a:xfrm>
          <a:prstGeom prst="roundRect">
            <a:avLst>
              <a:gd name="adj" fmla="val 1282"/>
            </a:avLst>
          </a:prstGeom>
          <a:solidFill>
            <a:srgbClr val="F0F2F5"/>
          </a:solidFill>
          <a:ln/>
        </p:spPr>
        <p:txBody>
          <a:bodyPr wrap="square" rtlCol="0" anchor="ctr"/>
          <a:lstStyle/>
          <a:p>
            <a:pPr marL="0" indent="0">
              <a:buNone/>
            </a:pPr>
            <a:endParaRPr lang="en-US" dirty="0"/>
          </a:p>
        </p:txBody>
      </p:sp>
      <p:sp>
        <p:nvSpPr>
          <p:cNvPr id="6" name="Text 4"/>
          <p:cNvSpPr/>
          <p:nvPr/>
        </p:nvSpPr>
        <p:spPr>
          <a:xfrm>
            <a:off x="482501" y="1168003"/>
            <a:ext cx="3938269" cy="142875"/>
          </a:xfrm>
          <a:prstGeom prst="rect">
            <a:avLst/>
          </a:prstGeom>
          <a:noFill/>
          <a:ln/>
        </p:spPr>
        <p:txBody>
          <a:bodyPr wrap="square" lIns="0" tIns="0" rIns="0" bIns="0" rtlCol="0" anchor="t"/>
          <a:lstStyle/>
          <a:p>
            <a:pPr marL="0" indent="0" algn="l">
              <a:spcAft>
                <a:spcPts val="600"/>
              </a:spcAft>
              <a:buNone/>
            </a:pPr>
            <a:r>
              <a:rPr lang="en-US" sz="1000" b="1" dirty="0">
                <a:solidFill>
                  <a:srgbClr val="1B2A4A"/>
                </a:solidFill>
                <a:latin typeface="Arial" pitchFamily="34" charset="0"/>
                <a:ea typeface="Arial" pitchFamily="34" charset="-122"/>
                <a:cs typeface="Arial" pitchFamily="34" charset="-120"/>
              </a:rPr>
              <a:t>Knowledge Graph Summary</a:t>
            </a:r>
            <a:endParaRPr lang="en-US" sz="1000" dirty="0"/>
          </a:p>
        </p:txBody>
      </p:sp>
      <p:sp>
        <p:nvSpPr>
          <p:cNvPr id="7" name="Text 5"/>
          <p:cNvSpPr/>
          <p:nvPr/>
        </p:nvSpPr>
        <p:spPr>
          <a:xfrm>
            <a:off x="482501" y="1387078"/>
            <a:ext cx="3861048" cy="325041"/>
          </a:xfrm>
          <a:prstGeom prst="rect">
            <a:avLst/>
          </a:prstGeom>
          <a:noFill/>
          <a:ln/>
        </p:spPr>
        <p:txBody>
          <a:bodyPr wrap="square" lIns="88900" tIns="0" rIns="0" bIns="0" rtlCol="0" anchor="t"/>
          <a:lstStyle/>
          <a:p>
            <a:pPr marL="88900" indent="-88900" algn="l">
              <a:lnSpc>
                <a:spcPts val="1280"/>
              </a:lnSpc>
              <a:buSzPct val="100000"/>
              <a:buChar char="•"/>
            </a:pPr>
            <a:r>
              <a:rPr lang="en-US" sz="800" b="1" dirty="0">
                <a:solidFill>
                  <a:srgbClr val="374151"/>
                </a:solidFill>
                <a:latin typeface="Arial" pitchFamily="34" charset="0"/>
                <a:ea typeface="Arial" pitchFamily="34" charset="-122"/>
                <a:cs typeface="Arial" pitchFamily="34" charset="-120"/>
              </a:rPr>
              <a:t>18 nodes</a:t>
            </a:r>
            <a:r>
              <a:rPr lang="en-US" sz="800" dirty="0">
                <a:solidFill>
                  <a:srgbClr val="374151"/>
                </a:solidFill>
                <a:latin typeface="Arial" pitchFamily="34" charset="0"/>
                <a:ea typeface="Arial" pitchFamily="34" charset="-122"/>
                <a:cs typeface="Arial" pitchFamily="34" charset="-120"/>
              </a:rPr>
              <a:t> (11 genes, 3 compounds, 3 pathways, 2 diseases)</a:t>
            </a:r>
            <a:endParaRPr lang="en-US" sz="800" dirty="0"/>
          </a:p>
          <a:p>
            <a:pPr marL="88900" indent="-88900" algn="l">
              <a:lnSpc>
                <a:spcPts val="1280"/>
              </a:lnSpc>
              <a:buSzPct val="100000"/>
              <a:buChar char="•"/>
            </a:pPr>
            <a:r>
              <a:rPr lang="en-US" sz="800" b="1" dirty="0">
                <a:solidFill>
                  <a:srgbClr val="374151"/>
                </a:solidFill>
                <a:latin typeface="Arial" pitchFamily="34" charset="0"/>
                <a:ea typeface="Arial" pitchFamily="34" charset="-122"/>
                <a:cs typeface="Arial" pitchFamily="34" charset="-120"/>
              </a:rPr>
              <a:t>20 edges</a:t>
            </a:r>
            <a:r>
              <a:rPr lang="en-US" sz="800" dirty="0">
                <a:solidFill>
                  <a:srgbClr val="374151"/>
                </a:solidFill>
                <a:latin typeface="Arial" pitchFamily="34" charset="0"/>
                <a:ea typeface="Arial" pitchFamily="34" charset="-122"/>
                <a:cs typeface="Arial" pitchFamily="34" charset="-120"/>
              </a:rPr>
              <a:t> (verified relationships)</a:t>
            </a:r>
            <a:endParaRPr lang="en-US" sz="800" dirty="0"/>
          </a:p>
        </p:txBody>
      </p:sp>
      <p:sp>
        <p:nvSpPr>
          <p:cNvPr id="8" name="Text 6"/>
          <p:cNvSpPr/>
          <p:nvPr/>
        </p:nvSpPr>
        <p:spPr>
          <a:xfrm>
            <a:off x="482501" y="1813620"/>
            <a:ext cx="3938269" cy="114300"/>
          </a:xfrm>
          <a:prstGeom prst="rect">
            <a:avLst/>
          </a:prstGeom>
          <a:noFill/>
          <a:ln/>
        </p:spPr>
        <p:txBody>
          <a:bodyPr wrap="square" lIns="0" tIns="0" rIns="0" bIns="0" rtlCol="0" anchor="t"/>
          <a:lstStyle/>
          <a:p>
            <a:pPr marL="0" indent="0" algn="l">
              <a:spcBef>
                <a:spcPts val="800"/>
              </a:spcBef>
              <a:spcAft>
                <a:spcPts val="400"/>
              </a:spcAft>
              <a:buNone/>
            </a:pPr>
            <a:r>
              <a:rPr lang="en-US" sz="850" b="1" dirty="0">
                <a:solidFill>
                  <a:srgbClr val="1B2A4A"/>
                </a:solidFill>
                <a:latin typeface="Arial" pitchFamily="34" charset="0"/>
                <a:ea typeface="Arial" pitchFamily="34" charset="-122"/>
                <a:cs typeface="Arial" pitchFamily="34" charset="-120"/>
              </a:rPr>
              <a:t>3 Cardioprotective Axes:</a:t>
            </a:r>
            <a:endParaRPr lang="en-US" sz="850" dirty="0"/>
          </a:p>
        </p:txBody>
      </p:sp>
      <p:sp>
        <p:nvSpPr>
          <p:cNvPr id="9" name="Text 7"/>
          <p:cNvSpPr/>
          <p:nvPr/>
        </p:nvSpPr>
        <p:spPr>
          <a:xfrm>
            <a:off x="482501" y="1978670"/>
            <a:ext cx="3861048" cy="457200"/>
          </a:xfrm>
          <a:prstGeom prst="rect">
            <a:avLst/>
          </a:prstGeom>
          <a:noFill/>
          <a:ln/>
        </p:spPr>
        <p:txBody>
          <a:bodyPr wrap="square" lIns="88900" tIns="0" rIns="0" bIns="0" rtlCol="0" anchor="t"/>
          <a:lstStyle/>
          <a:p>
            <a:pPr marL="88900" indent="-88900" algn="l">
              <a:lnSpc>
                <a:spcPts val="1200"/>
              </a:lnSpc>
              <a:buSzPct val="100000"/>
              <a:buChar char="•"/>
            </a:pPr>
            <a:r>
              <a:rPr lang="en-US" sz="750" b="1" dirty="0">
                <a:solidFill>
                  <a:srgbClr val="2E8B8B"/>
                </a:solidFill>
                <a:latin typeface="Arial" pitchFamily="34" charset="0"/>
                <a:ea typeface="Arial" pitchFamily="34" charset="-122"/>
                <a:cs typeface="Arial" pitchFamily="34" charset="-120"/>
              </a:rPr>
              <a:t>TOP2B</a:t>
            </a:r>
            <a:r>
              <a:rPr lang="en-US" sz="750" dirty="0">
                <a:solidFill>
                  <a:srgbClr val="374151"/>
                </a:solidFill>
                <a:latin typeface="Arial" pitchFamily="34" charset="0"/>
                <a:ea typeface="Arial" pitchFamily="34" charset="-122"/>
                <a:cs typeface="Arial" pitchFamily="34" charset="-120"/>
              </a:rPr>
              <a:t> degradation via Dexrazoxane (L4)</a:t>
            </a:r>
            <a:endParaRPr lang="en-US" sz="750" dirty="0"/>
          </a:p>
          <a:p>
            <a:pPr marL="88900" indent="-88900" algn="l">
              <a:lnSpc>
                <a:spcPts val="1200"/>
              </a:lnSpc>
              <a:buSzPct val="100000"/>
              <a:buChar char="•"/>
            </a:pPr>
            <a:r>
              <a:rPr lang="en-US" sz="750" b="1" dirty="0">
                <a:solidFill>
                  <a:srgbClr val="2E8B8B"/>
                </a:solidFill>
                <a:latin typeface="Arial" pitchFamily="34" charset="0"/>
                <a:ea typeface="Arial" pitchFamily="34" charset="-122"/>
                <a:cs typeface="Arial" pitchFamily="34" charset="-120"/>
              </a:rPr>
              <a:t>NRF2/KEAP1</a:t>
            </a:r>
            <a:r>
              <a:rPr lang="en-US" sz="750" dirty="0">
                <a:solidFill>
                  <a:srgbClr val="374151"/>
                </a:solidFill>
                <a:latin typeface="Arial" pitchFamily="34" charset="0"/>
                <a:ea typeface="Arial" pitchFamily="34" charset="-122"/>
                <a:cs typeface="Arial" pitchFamily="34" charset="-120"/>
              </a:rPr>
              <a:t> antioxidant response (L2)</a:t>
            </a:r>
            <a:endParaRPr lang="en-US" sz="750" dirty="0"/>
          </a:p>
          <a:p>
            <a:pPr marL="88900" indent="-88900" algn="l">
              <a:lnSpc>
                <a:spcPts val="1200"/>
              </a:lnSpc>
              <a:buSzPct val="100000"/>
              <a:buChar char="•"/>
            </a:pPr>
            <a:r>
              <a:rPr lang="en-US" sz="750" b="1" dirty="0">
                <a:solidFill>
                  <a:srgbClr val="2E8B8B"/>
                </a:solidFill>
                <a:latin typeface="Arial" pitchFamily="34" charset="0"/>
                <a:ea typeface="Arial" pitchFamily="34" charset="-122"/>
                <a:cs typeface="Arial" pitchFamily="34" charset="-120"/>
              </a:rPr>
              <a:t>MEK inhibition</a:t>
            </a:r>
            <a:r>
              <a:rPr lang="en-US" sz="750" dirty="0">
                <a:solidFill>
                  <a:srgbClr val="374151"/>
                </a:solidFill>
                <a:latin typeface="Arial" pitchFamily="34" charset="0"/>
                <a:ea typeface="Arial" pitchFamily="34" charset="-122"/>
                <a:cs typeface="Arial" pitchFamily="34" charset="-120"/>
              </a:rPr>
              <a:t> via Selumetinib (L4)</a:t>
            </a:r>
            <a:endParaRPr lang="en-US" sz="750" dirty="0"/>
          </a:p>
        </p:txBody>
      </p:sp>
      <p:sp>
        <p:nvSpPr>
          <p:cNvPr id="10" name="Text 8"/>
          <p:cNvSpPr/>
          <p:nvPr/>
        </p:nvSpPr>
        <p:spPr>
          <a:xfrm>
            <a:off x="4673650" y="1041053"/>
            <a:ext cx="4114949" cy="3962698"/>
          </a:xfrm>
          <a:prstGeom prst="roundRect">
            <a:avLst>
              <a:gd name="adj" fmla="val 1282"/>
            </a:avLst>
          </a:prstGeom>
          <a:solidFill>
            <a:srgbClr val="F0F2F5"/>
          </a:solidFill>
          <a:ln/>
        </p:spPr>
        <p:txBody>
          <a:bodyPr wrap="square" rtlCol="0" anchor="ctr"/>
          <a:lstStyle/>
          <a:p>
            <a:pPr marL="0" indent="0">
              <a:buNone/>
            </a:pPr>
            <a:endParaRPr lang="en-US" dirty="0"/>
          </a:p>
        </p:txBody>
      </p:sp>
      <p:sp>
        <p:nvSpPr>
          <p:cNvPr id="11" name="Text 9"/>
          <p:cNvSpPr/>
          <p:nvPr/>
        </p:nvSpPr>
        <p:spPr>
          <a:xfrm>
            <a:off x="4800600" y="1168003"/>
            <a:ext cx="3938269" cy="142875"/>
          </a:xfrm>
          <a:prstGeom prst="rect">
            <a:avLst/>
          </a:prstGeom>
          <a:noFill/>
          <a:ln/>
        </p:spPr>
        <p:txBody>
          <a:bodyPr wrap="square" lIns="0" tIns="0" rIns="0" bIns="0" rtlCol="0" anchor="t"/>
          <a:lstStyle/>
          <a:p>
            <a:pPr marL="0" indent="0" algn="l">
              <a:spcAft>
                <a:spcPts val="600"/>
              </a:spcAft>
              <a:buNone/>
            </a:pPr>
            <a:r>
              <a:rPr lang="en-US" sz="1000" b="1" dirty="0">
                <a:solidFill>
                  <a:srgbClr val="1B2A4A"/>
                </a:solidFill>
                <a:latin typeface="Arial" pitchFamily="34" charset="0"/>
                <a:ea typeface="Arial" pitchFamily="34" charset="-122"/>
                <a:cs typeface="Arial" pitchFamily="34" charset="-120"/>
              </a:rPr>
              <a:t>Synapse Grounding</a:t>
            </a:r>
            <a:endParaRPr lang="en-US" sz="1000" dirty="0"/>
          </a:p>
        </p:txBody>
      </p:sp>
      <p:sp>
        <p:nvSpPr>
          <p:cNvPr id="12" name="Text 10"/>
          <p:cNvSpPr/>
          <p:nvPr/>
        </p:nvSpPr>
        <p:spPr>
          <a:xfrm>
            <a:off x="4800600" y="1387078"/>
            <a:ext cx="3861048" cy="487561"/>
          </a:xfrm>
          <a:prstGeom prst="rect">
            <a:avLst/>
          </a:prstGeom>
          <a:noFill/>
          <a:ln/>
        </p:spPr>
        <p:txBody>
          <a:bodyPr wrap="square" lIns="88900" tIns="0" rIns="0" bIns="0" rtlCol="0" anchor="t"/>
          <a:lstStyle/>
          <a:p>
            <a:pPr marL="88900" indent="-88900" algn="l">
              <a:lnSpc>
                <a:spcPts val="1280"/>
              </a:lnSpc>
              <a:buSzPct val="100000"/>
              <a:buChar char="•"/>
            </a:pPr>
            <a:r>
              <a:rPr lang="en-US" sz="800" b="1" dirty="0">
                <a:solidFill>
                  <a:srgbClr val="374151"/>
                </a:solidFill>
                <a:latin typeface="Arial" pitchFamily="34" charset="0"/>
                <a:ea typeface="Arial" pitchFamily="34" charset="-122"/>
                <a:cs typeface="Arial" pitchFamily="34" charset="-120"/>
              </a:rPr>
              <a:t>8 Synapse datasets</a:t>
            </a:r>
            <a:r>
              <a:rPr lang="en-US" sz="800" dirty="0">
                <a:solidFill>
                  <a:srgbClr val="374151"/>
                </a:solidFill>
                <a:latin typeface="Arial" pitchFamily="34" charset="0"/>
                <a:ea typeface="Arial" pitchFamily="34" charset="-122"/>
                <a:cs typeface="Arial" pitchFamily="34" charset="-120"/>
              </a:rPr>
              <a:t> identified</a:t>
            </a:r>
            <a:endParaRPr lang="en-US" sz="800" dirty="0"/>
          </a:p>
          <a:p>
            <a:pPr marL="88900" indent="-88900" algn="l">
              <a:lnSpc>
                <a:spcPts val="1280"/>
              </a:lnSpc>
              <a:buSzPct val="100000"/>
              <a:buChar char="•"/>
            </a:pPr>
            <a:r>
              <a:rPr lang="en-US" sz="800" b="1" dirty="0">
                <a:solidFill>
                  <a:srgbClr val="374151"/>
                </a:solidFill>
                <a:latin typeface="Arial" pitchFamily="34" charset="0"/>
                <a:ea typeface="Arial" pitchFamily="34" charset="-122"/>
                <a:cs typeface="Arial" pitchFamily="34" charset="-120"/>
              </a:rPr>
              <a:t>56% node coverage</a:t>
            </a:r>
            <a:r>
              <a:rPr lang="en-US" sz="800" dirty="0">
                <a:solidFill>
                  <a:srgbClr val="374151"/>
                </a:solidFill>
                <a:latin typeface="Arial" pitchFamily="34" charset="0"/>
                <a:ea typeface="Arial" pitchFamily="34" charset="-122"/>
                <a:cs typeface="Arial" pitchFamily="34" charset="-120"/>
              </a:rPr>
              <a:t> (10/18 grounded)</a:t>
            </a:r>
            <a:endParaRPr lang="en-US" sz="800" dirty="0"/>
          </a:p>
          <a:p>
            <a:pPr marL="88900" indent="-88900" algn="l">
              <a:lnSpc>
                <a:spcPts val="1280"/>
              </a:lnSpc>
              <a:buSzPct val="100000"/>
              <a:buChar char="•"/>
            </a:pPr>
            <a:r>
              <a:rPr lang="en-US" sz="800" b="1" dirty="0">
                <a:solidFill>
                  <a:srgbClr val="374151"/>
                </a:solidFill>
                <a:latin typeface="Arial" pitchFamily="34" charset="0"/>
                <a:ea typeface="Arial" pitchFamily="34" charset="-122"/>
                <a:cs typeface="Arial" pitchFamily="34" charset="-120"/>
              </a:rPr>
              <a:t>35% edge coverage</a:t>
            </a:r>
            <a:r>
              <a:rPr lang="en-US" sz="800" dirty="0">
                <a:solidFill>
                  <a:srgbClr val="374151"/>
                </a:solidFill>
                <a:latin typeface="Arial" pitchFamily="34" charset="0"/>
                <a:ea typeface="Arial" pitchFamily="34" charset="-122"/>
                <a:cs typeface="Arial" pitchFamily="34" charset="-120"/>
              </a:rPr>
              <a:t> (7/20 grounded)</a:t>
            </a:r>
            <a:endParaRPr lang="en-US" sz="800" dirty="0"/>
          </a:p>
        </p:txBody>
      </p:sp>
      <p:sp>
        <p:nvSpPr>
          <p:cNvPr id="13" name="Text 11"/>
          <p:cNvSpPr/>
          <p:nvPr/>
        </p:nvSpPr>
        <p:spPr>
          <a:xfrm>
            <a:off x="4800600" y="1976140"/>
            <a:ext cx="3938269" cy="114300"/>
          </a:xfrm>
          <a:prstGeom prst="rect">
            <a:avLst/>
          </a:prstGeom>
          <a:noFill/>
          <a:ln/>
        </p:spPr>
        <p:txBody>
          <a:bodyPr wrap="square" lIns="0" tIns="0" rIns="0" bIns="0" rtlCol="0" anchor="t"/>
          <a:lstStyle/>
          <a:p>
            <a:pPr marL="0" indent="0" algn="l">
              <a:spcBef>
                <a:spcPts val="800"/>
              </a:spcBef>
              <a:spcAft>
                <a:spcPts val="400"/>
              </a:spcAft>
              <a:buNone/>
            </a:pPr>
            <a:r>
              <a:rPr lang="en-US" sz="850" b="1" dirty="0">
                <a:solidFill>
                  <a:srgbClr val="1B2A4A"/>
                </a:solidFill>
                <a:latin typeface="Arial" pitchFamily="34" charset="0"/>
                <a:ea typeface="Arial" pitchFamily="34" charset="-122"/>
                <a:cs typeface="Arial" pitchFamily="34" charset="-120"/>
              </a:rPr>
              <a:t>Key Datasets:</a:t>
            </a:r>
            <a:endParaRPr lang="en-US" sz="850" dirty="0"/>
          </a:p>
        </p:txBody>
      </p:sp>
      <p:sp>
        <p:nvSpPr>
          <p:cNvPr id="14" name="Text 12"/>
          <p:cNvSpPr/>
          <p:nvPr/>
        </p:nvSpPr>
        <p:spPr>
          <a:xfrm>
            <a:off x="4800600" y="2141190"/>
            <a:ext cx="3861048" cy="457200"/>
          </a:xfrm>
          <a:prstGeom prst="rect">
            <a:avLst/>
          </a:prstGeom>
          <a:noFill/>
          <a:ln/>
        </p:spPr>
        <p:txBody>
          <a:bodyPr wrap="square" lIns="88900" tIns="0" rIns="0" bIns="0" rtlCol="0" anchor="t"/>
          <a:lstStyle/>
          <a:p>
            <a:pPr marL="88900" indent="-88900" algn="l">
              <a:lnSpc>
                <a:spcPts val="1200"/>
              </a:lnSpc>
              <a:buSzPct val="100000"/>
              <a:buChar char="•"/>
            </a:pPr>
            <a:r>
              <a:rPr lang="en-US" sz="750" b="1" dirty="0">
                <a:solidFill>
                  <a:srgbClr val="374151"/>
                </a:solidFill>
                <a:latin typeface="Arial" pitchFamily="34" charset="0"/>
                <a:ea typeface="Arial" pitchFamily="34" charset="-122"/>
                <a:cs typeface="Arial" pitchFamily="34" charset="-120"/>
              </a:rPr>
              <a:t>syn200548</a:t>
            </a:r>
            <a:r>
              <a:rPr lang="en-US" sz="750" dirty="0">
                <a:solidFill>
                  <a:srgbClr val="374151"/>
                </a:solidFill>
                <a:latin typeface="Arial" pitchFamily="34" charset="0"/>
                <a:ea typeface="Arial" pitchFamily="34" charset="-122"/>
                <a:cs typeface="Arial" pitchFamily="34" charset="-120"/>
              </a:rPr>
              <a:t>: Rat heart doxorubicin/dexrazoxane</a:t>
            </a:r>
            <a:endParaRPr lang="en-US" sz="750" dirty="0"/>
          </a:p>
          <a:p>
            <a:pPr marL="88900" indent="-88900" algn="l">
              <a:lnSpc>
                <a:spcPts val="1200"/>
              </a:lnSpc>
              <a:buSzPct val="100000"/>
              <a:buChar char="•"/>
            </a:pPr>
            <a:r>
              <a:rPr lang="en-US" sz="750" b="1" dirty="0">
                <a:solidFill>
                  <a:srgbClr val="374151"/>
                </a:solidFill>
                <a:latin typeface="Arial" pitchFamily="34" charset="0"/>
                <a:ea typeface="Arial" pitchFamily="34" charset="-122"/>
                <a:cs typeface="Arial" pitchFamily="34" charset="-120"/>
              </a:rPr>
              <a:t>syn44222814</a:t>
            </a:r>
            <a:r>
              <a:rPr lang="en-US" sz="750" dirty="0">
                <a:solidFill>
                  <a:srgbClr val="374151"/>
                </a:solidFill>
                <a:latin typeface="Arial" pitchFamily="34" charset="0"/>
                <a:ea typeface="Arial" pitchFamily="34" charset="-122"/>
                <a:cs typeface="Arial" pitchFamily="34" charset="-120"/>
              </a:rPr>
              <a:t>: NF1 Schwann cell + selumetinib</a:t>
            </a:r>
            <a:endParaRPr lang="en-US" sz="750" dirty="0"/>
          </a:p>
          <a:p>
            <a:pPr marL="88900" indent="-88900" algn="l">
              <a:lnSpc>
                <a:spcPts val="1200"/>
              </a:lnSpc>
              <a:buSzPct val="100000"/>
              <a:buChar char="•"/>
            </a:pPr>
            <a:r>
              <a:rPr lang="en-US" sz="750" b="1" dirty="0">
                <a:solidFill>
                  <a:srgbClr val="374151"/>
                </a:solidFill>
                <a:latin typeface="Arial" pitchFamily="34" charset="0"/>
                <a:ea typeface="Arial" pitchFamily="34" charset="-122"/>
                <a:cs typeface="Arial" pitchFamily="34" charset="-120"/>
              </a:rPr>
              <a:t>syn61259950</a:t>
            </a:r>
            <a:r>
              <a:rPr lang="en-US" sz="750" dirty="0">
                <a:solidFill>
                  <a:srgbClr val="374151"/>
                </a:solidFill>
                <a:latin typeface="Arial" pitchFamily="34" charset="0"/>
                <a:ea typeface="Arial" pitchFamily="34" charset="-122"/>
                <a:cs typeface="Arial" pitchFamily="34" charset="-120"/>
              </a:rPr>
              <a:t>: Phase II Selumetinib (NCT02407405)</a:t>
            </a:r>
            <a:endParaRPr lang="en-US" sz="750" dirty="0"/>
          </a:p>
        </p:txBody>
      </p:sp>
      <p:sp>
        <p:nvSpPr>
          <p:cNvPr id="15" name="Text 13"/>
          <p:cNvSpPr/>
          <p:nvPr/>
        </p:nvSpPr>
        <p:spPr>
          <a:xfrm>
            <a:off x="0" y="4876800"/>
            <a:ext cx="9144000" cy="266700"/>
          </a:xfrm>
          <a:prstGeom prst="rect">
            <a:avLst/>
          </a:prstGeom>
          <a:solidFill>
            <a:srgbClr val="1B2A4A"/>
          </a:solidFill>
          <a:ln/>
        </p:spPr>
        <p:txBody>
          <a:bodyPr wrap="square" rtlCol="0" anchor="ctr"/>
          <a:lstStyle/>
          <a:p>
            <a:pPr marL="0" indent="0">
              <a:buNone/>
            </a:pPr>
            <a:endParaRPr lang="en-US" dirty="0"/>
          </a:p>
        </p:txBody>
      </p:sp>
      <p:sp>
        <p:nvSpPr>
          <p:cNvPr id="16" name="Text 14"/>
          <p:cNvSpPr/>
          <p:nvPr/>
        </p:nvSpPr>
        <p:spPr>
          <a:xfrm>
            <a:off x="271221" y="4953000"/>
            <a:ext cx="8601557" cy="114300"/>
          </a:xfrm>
          <a:prstGeom prst="rect">
            <a:avLst/>
          </a:prstGeom>
          <a:noFill/>
          <a:ln/>
        </p:spPr>
        <p:txBody>
          <a:bodyPr wrap="square" lIns="0" tIns="0" rIns="0" bIns="0" rtlCol="0" anchor="t"/>
          <a:lstStyle/>
          <a:p>
            <a:pPr marL="0" indent="0" algn="ctr">
              <a:buNone/>
            </a:pPr>
            <a:r>
              <a:rPr lang="en-US" sz="800" dirty="0">
                <a:solidFill>
                  <a:srgbClr val="94A3B8"/>
                </a:solidFill>
                <a:latin typeface="Arial" pitchFamily="34" charset="0"/>
                <a:ea typeface="Arial" pitchFamily="34" charset="-122"/>
                <a:cs typeface="Arial" pitchFamily="34" charset="-120"/>
              </a:rPr>
              <a:t>6 verified clinical trials  |  Quality score: 35/40 (PASS)  |  All 3 drugs FDA-approved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Three Research Personas</a:t>
            </a:r>
            <a:endParaRPr lang="en-US" sz="2200" dirty="0"/>
          </a:p>
        </p:txBody>
      </p:sp>
      <p:sp>
        <p:nvSpPr>
          <p:cNvPr id="4" name="Text 2"/>
          <p:cNvSpPr/>
          <p:nvPr/>
        </p:nvSpPr>
        <p:spPr>
          <a:xfrm>
            <a:off x="355550" y="1091803"/>
            <a:ext cx="2709416" cy="3873996"/>
          </a:xfrm>
          <a:prstGeom prst="roundRect">
            <a:avLst>
              <a:gd name="adj" fmla="val 1875"/>
            </a:avLst>
          </a:prstGeom>
          <a:solidFill>
            <a:srgbClr val="F0F2F5"/>
          </a:solidFill>
          <a:ln/>
        </p:spPr>
        <p:txBody>
          <a:bodyPr wrap="square" rtlCol="0" anchor="ctr"/>
          <a:lstStyle/>
          <a:p>
            <a:pPr marL="0" indent="0">
              <a:buNone/>
            </a:pPr>
            <a:endParaRPr lang="en-US" dirty="0"/>
          </a:p>
        </p:txBody>
      </p:sp>
      <p:sp>
        <p:nvSpPr>
          <p:cNvPr id="5" name="Shape 3"/>
          <p:cNvSpPr/>
          <p:nvPr/>
        </p:nvSpPr>
        <p:spPr>
          <a:xfrm>
            <a:off x="355550" y="1110853"/>
            <a:ext cx="2709416" cy="0"/>
          </a:xfrm>
          <a:prstGeom prst="line">
            <a:avLst/>
          </a:prstGeom>
          <a:noFill/>
          <a:ln w="38100">
            <a:solidFill>
              <a:srgbClr val="2E8B8B"/>
            </a:solidFill>
            <a:prstDash val="solid"/>
          </a:ln>
        </p:spPr>
        <p:txBody>
          <a:bodyPr/>
          <a:lstStyle/>
          <a:p>
            <a:endParaRPr lang="en-US"/>
          </a:p>
        </p:txBody>
      </p:sp>
      <p:sp>
        <p:nvSpPr>
          <p:cNvPr id="6" name="Text 4"/>
          <p:cNvSpPr/>
          <p:nvPr/>
        </p:nvSpPr>
        <p:spPr>
          <a:xfrm>
            <a:off x="482501" y="1256854"/>
            <a:ext cx="2504626" cy="142875"/>
          </a:xfrm>
          <a:prstGeom prst="rect">
            <a:avLst/>
          </a:prstGeom>
          <a:noFill/>
          <a:ln/>
        </p:spPr>
        <p:txBody>
          <a:bodyPr wrap="square" lIns="0" tIns="0" rIns="0" bIns="0" rtlCol="0" anchor="t"/>
          <a:lstStyle/>
          <a:p>
            <a:pPr marL="0" indent="0" algn="l">
              <a:spcAft>
                <a:spcPts val="400"/>
              </a:spcAft>
              <a:buNone/>
            </a:pPr>
            <a:r>
              <a:rPr lang="en-US" sz="1000" b="1" dirty="0">
                <a:solidFill>
                  <a:srgbClr val="1B2A4A"/>
                </a:solidFill>
                <a:latin typeface="Arial" pitchFamily="34" charset="0"/>
                <a:ea typeface="Arial" pitchFamily="34" charset="-122"/>
                <a:cs typeface="Arial" pitchFamily="34" charset="-120"/>
              </a:rPr>
              <a:t>Educational / Trainee</a:t>
            </a:r>
            <a:endParaRPr lang="en-US" sz="1000" dirty="0"/>
          </a:p>
        </p:txBody>
      </p:sp>
      <p:sp>
        <p:nvSpPr>
          <p:cNvPr id="7" name="Text 5"/>
          <p:cNvSpPr/>
          <p:nvPr/>
        </p:nvSpPr>
        <p:spPr>
          <a:xfrm>
            <a:off x="482501" y="1450479"/>
            <a:ext cx="2504626" cy="190500"/>
          </a:xfrm>
          <a:prstGeom prst="rect">
            <a:avLst/>
          </a:prstGeom>
          <a:noFill/>
          <a:ln/>
        </p:spPr>
        <p:txBody>
          <a:bodyPr wrap="square" lIns="0" tIns="0" rIns="0" bIns="0" rtlCol="0" anchor="t"/>
          <a:lstStyle/>
          <a:p>
            <a:pPr marL="0" indent="0" algn="l">
              <a:spcAft>
                <a:spcPts val="600"/>
              </a:spcAft>
              <a:buNone/>
            </a:pPr>
            <a:r>
              <a:rPr lang="en-US" sz="700" i="1" dirty="0">
                <a:solidFill>
                  <a:srgbClr val="6B7280"/>
                </a:solidFill>
                <a:latin typeface="Arial" pitchFamily="34" charset="0"/>
                <a:ea typeface="Arial" pitchFamily="34" charset="-122"/>
                <a:cs typeface="Arial" pitchFamily="34" charset="-120"/>
              </a:rPr>
              <a:t>"I'm learning pathway biology and need to understand how drugs connect to diseases"</a:t>
            </a:r>
            <a:endParaRPr lang="en-US" sz="700" dirty="0"/>
          </a:p>
        </p:txBody>
      </p:sp>
      <p:sp>
        <p:nvSpPr>
          <p:cNvPr id="8" name="Text 6"/>
          <p:cNvSpPr/>
          <p:nvPr/>
        </p:nvSpPr>
        <p:spPr>
          <a:xfrm>
            <a:off x="482501" y="1717179"/>
            <a:ext cx="2504626" cy="104775"/>
          </a:xfrm>
          <a:prstGeom prst="rect">
            <a:avLst/>
          </a:prstGeom>
          <a:noFill/>
          <a:ln/>
        </p:spPr>
        <p:txBody>
          <a:bodyPr wrap="square" lIns="0" tIns="0" rIns="0" bIns="0" rtlCol="0" anchor="t"/>
          <a:lstStyle/>
          <a:p>
            <a:pPr marL="0" indent="0" algn="l">
              <a:spcAft>
                <a:spcPts val="200"/>
              </a:spcAft>
              <a:buNone/>
            </a:pPr>
            <a:r>
              <a:rPr lang="en-US" sz="750" b="1" dirty="0">
                <a:solidFill>
                  <a:srgbClr val="1B2A4A"/>
                </a:solidFill>
                <a:latin typeface="Arial" pitchFamily="34" charset="0"/>
                <a:ea typeface="Arial" pitchFamily="34" charset="-122"/>
                <a:cs typeface="Arial" pitchFamily="34" charset="-120"/>
              </a:rPr>
              <a:t>Benchmark:</a:t>
            </a:r>
            <a:endParaRPr lang="en-US" sz="750" dirty="0"/>
          </a:p>
        </p:txBody>
      </p:sp>
      <p:sp>
        <p:nvSpPr>
          <p:cNvPr id="9" name="Text 7"/>
          <p:cNvSpPr/>
          <p:nvPr/>
        </p:nvSpPr>
        <p:spPr>
          <a:xfrm>
            <a:off x="482501" y="1847255"/>
            <a:ext cx="2504626" cy="95250"/>
          </a:xfrm>
          <a:prstGeom prst="rect">
            <a:avLst/>
          </a:prstGeom>
          <a:noFill/>
          <a:ln/>
        </p:spPr>
        <p:txBody>
          <a:bodyPr wrap="square" lIns="0" tIns="0" rIns="0" bIns="0" rtlCol="0" anchor="t"/>
          <a:lstStyle/>
          <a:p>
            <a:pPr marL="0" indent="0" algn="l">
              <a:spcAft>
                <a:spcPts val="400"/>
              </a:spcAft>
              <a:buNone/>
            </a:pPr>
            <a:r>
              <a:rPr lang="en-US" sz="700" dirty="0">
                <a:solidFill>
                  <a:srgbClr val="374151"/>
                </a:solidFill>
                <a:latin typeface="Arial" pitchFamily="34" charset="0"/>
                <a:ea typeface="Arial" pitchFamily="34" charset="-122"/>
                <a:cs typeface="Arial" pitchFamily="34" charset="-120"/>
              </a:rPr>
              <a:t>FOP Drug Mechanism — 4-node linear path</a:t>
            </a:r>
            <a:endParaRPr lang="en-US" sz="700" dirty="0"/>
          </a:p>
        </p:txBody>
      </p:sp>
      <p:sp>
        <p:nvSpPr>
          <p:cNvPr id="10" name="Text 8"/>
          <p:cNvSpPr/>
          <p:nvPr/>
        </p:nvSpPr>
        <p:spPr>
          <a:xfrm>
            <a:off x="482501" y="1993255"/>
            <a:ext cx="2504626" cy="104775"/>
          </a:xfrm>
          <a:prstGeom prst="rect">
            <a:avLst/>
          </a:prstGeom>
          <a:noFill/>
          <a:ln/>
        </p:spPr>
        <p:txBody>
          <a:bodyPr wrap="square" lIns="0" tIns="0" rIns="0" bIns="0" rtlCol="0" anchor="t"/>
          <a:lstStyle/>
          <a:p>
            <a:pPr marL="0" indent="0" algn="l">
              <a:spcAft>
                <a:spcPts val="200"/>
              </a:spcAft>
              <a:buNone/>
            </a:pPr>
            <a:r>
              <a:rPr lang="en-US" sz="750" b="1" dirty="0">
                <a:solidFill>
                  <a:srgbClr val="1B2A4A"/>
                </a:solidFill>
                <a:latin typeface="Arial" pitchFamily="34" charset="0"/>
                <a:ea typeface="Arial" pitchFamily="34" charset="-122"/>
                <a:cs typeface="Arial" pitchFamily="34" charset="-120"/>
              </a:rPr>
              <a:t>Value:</a:t>
            </a:r>
            <a:endParaRPr lang="en-US" sz="750" dirty="0"/>
          </a:p>
        </p:txBody>
      </p:sp>
      <p:sp>
        <p:nvSpPr>
          <p:cNvPr id="11" name="Text 9"/>
          <p:cNvSpPr/>
          <p:nvPr/>
        </p:nvSpPr>
        <p:spPr>
          <a:xfrm>
            <a:off x="482501" y="2123331"/>
            <a:ext cx="2504626" cy="95250"/>
          </a:xfrm>
          <a:prstGeom prst="rect">
            <a:avLst/>
          </a:prstGeom>
          <a:noFill/>
          <a:ln/>
        </p:spPr>
        <p:txBody>
          <a:bodyPr wrap="square" lIns="0" tIns="0" rIns="0" bIns="0" rtlCol="0" anchor="t"/>
          <a:lstStyle/>
          <a:p>
            <a:pPr marL="0" indent="0" algn="l">
              <a:spcAft>
                <a:spcPts val="400"/>
              </a:spcAft>
              <a:buNone/>
            </a:pPr>
            <a:r>
              <a:rPr lang="en-US" sz="700" dirty="0">
                <a:solidFill>
                  <a:srgbClr val="374151"/>
                </a:solidFill>
                <a:latin typeface="Arial" pitchFamily="34" charset="0"/>
                <a:ea typeface="Arial" pitchFamily="34" charset="-122"/>
                <a:cs typeface="Arial" pitchFamily="34" charset="-120"/>
              </a:rPr>
              <a:t>Structured learning with verified relationships</a:t>
            </a:r>
            <a:endParaRPr lang="en-US" sz="700" dirty="0"/>
          </a:p>
        </p:txBody>
      </p:sp>
      <p:sp>
        <p:nvSpPr>
          <p:cNvPr id="12" name="Text 10"/>
          <p:cNvSpPr/>
          <p:nvPr/>
        </p:nvSpPr>
        <p:spPr>
          <a:xfrm>
            <a:off x="482501" y="2269331"/>
            <a:ext cx="2455515" cy="196751"/>
          </a:xfrm>
          <a:prstGeom prst="roundRect">
            <a:avLst>
              <a:gd name="adj" fmla="val 19365"/>
            </a:avLst>
          </a:prstGeom>
          <a:solidFill>
            <a:srgbClr val="1B2A4A"/>
          </a:solidFill>
          <a:ln/>
        </p:spPr>
        <p:txBody>
          <a:bodyPr wrap="square" rtlCol="0" anchor="ctr"/>
          <a:lstStyle/>
          <a:p>
            <a:pPr marL="0" indent="0">
              <a:buNone/>
            </a:pPr>
            <a:endParaRPr lang="en-US" dirty="0"/>
          </a:p>
        </p:txBody>
      </p:sp>
      <p:sp>
        <p:nvSpPr>
          <p:cNvPr id="13" name="Text 11"/>
          <p:cNvSpPr/>
          <p:nvPr/>
        </p:nvSpPr>
        <p:spPr>
          <a:xfrm>
            <a:off x="535670" y="2320082"/>
            <a:ext cx="2349178" cy="95250"/>
          </a:xfrm>
          <a:prstGeom prst="rect">
            <a:avLst/>
          </a:prstGeom>
          <a:noFill/>
          <a:ln/>
        </p:spPr>
        <p:txBody>
          <a:bodyPr wrap="square" lIns="0" tIns="0" rIns="0" bIns="0" rtlCol="0" anchor="t"/>
          <a:lstStyle/>
          <a:p>
            <a:pPr marL="0" indent="0" algn="ctr">
              <a:buNone/>
            </a:pPr>
            <a:r>
              <a:rPr lang="en-US" sz="700" dirty="0">
                <a:solidFill>
                  <a:srgbClr val="FFFFFF"/>
                </a:solidFill>
                <a:latin typeface="Arial" pitchFamily="34" charset="0"/>
                <a:ea typeface="Arial" pitchFamily="34" charset="-122"/>
                <a:cs typeface="Arial" pitchFamily="34" charset="-120"/>
              </a:rPr>
              <a:t>"Show me the mechanism step by step"</a:t>
            </a:r>
            <a:endParaRPr lang="en-US" sz="700" dirty="0"/>
          </a:p>
        </p:txBody>
      </p:sp>
      <p:sp>
        <p:nvSpPr>
          <p:cNvPr id="14" name="Text 12"/>
          <p:cNvSpPr/>
          <p:nvPr/>
        </p:nvSpPr>
        <p:spPr>
          <a:xfrm>
            <a:off x="3217366" y="1091803"/>
            <a:ext cx="2709416" cy="3873996"/>
          </a:xfrm>
          <a:prstGeom prst="roundRect">
            <a:avLst>
              <a:gd name="adj" fmla="val 1875"/>
            </a:avLst>
          </a:prstGeom>
          <a:solidFill>
            <a:srgbClr val="F0F2F5"/>
          </a:solidFill>
          <a:ln/>
        </p:spPr>
        <p:txBody>
          <a:bodyPr wrap="square" rtlCol="0" anchor="ctr"/>
          <a:lstStyle/>
          <a:p>
            <a:pPr marL="0" indent="0">
              <a:buNone/>
            </a:pPr>
            <a:endParaRPr lang="en-US" dirty="0"/>
          </a:p>
        </p:txBody>
      </p:sp>
      <p:sp>
        <p:nvSpPr>
          <p:cNvPr id="15" name="Shape 13"/>
          <p:cNvSpPr/>
          <p:nvPr/>
        </p:nvSpPr>
        <p:spPr>
          <a:xfrm>
            <a:off x="3217366" y="1110853"/>
            <a:ext cx="2709416" cy="0"/>
          </a:xfrm>
          <a:prstGeom prst="line">
            <a:avLst/>
          </a:prstGeom>
          <a:noFill/>
          <a:ln w="38100">
            <a:solidFill>
              <a:srgbClr val="2E8B8B"/>
            </a:solidFill>
            <a:prstDash val="solid"/>
          </a:ln>
        </p:spPr>
        <p:txBody>
          <a:bodyPr/>
          <a:lstStyle/>
          <a:p>
            <a:endParaRPr lang="en-US"/>
          </a:p>
        </p:txBody>
      </p:sp>
      <p:sp>
        <p:nvSpPr>
          <p:cNvPr id="16" name="Text 14"/>
          <p:cNvSpPr/>
          <p:nvPr/>
        </p:nvSpPr>
        <p:spPr>
          <a:xfrm>
            <a:off x="3344317" y="1256854"/>
            <a:ext cx="2504626" cy="142875"/>
          </a:xfrm>
          <a:prstGeom prst="rect">
            <a:avLst/>
          </a:prstGeom>
          <a:noFill/>
          <a:ln/>
        </p:spPr>
        <p:txBody>
          <a:bodyPr wrap="square" lIns="0" tIns="0" rIns="0" bIns="0" rtlCol="0" anchor="t"/>
          <a:lstStyle/>
          <a:p>
            <a:pPr marL="0" indent="0" algn="l">
              <a:spcAft>
                <a:spcPts val="400"/>
              </a:spcAft>
              <a:buNone/>
            </a:pPr>
            <a:r>
              <a:rPr lang="en-US" sz="1000" b="1" dirty="0">
                <a:solidFill>
                  <a:srgbClr val="1B2A4A"/>
                </a:solidFill>
                <a:latin typeface="Arial" pitchFamily="34" charset="0"/>
                <a:ea typeface="Arial" pitchFamily="34" charset="-122"/>
                <a:cs typeface="Arial" pitchFamily="34" charset="-120"/>
              </a:rPr>
              <a:t>Independent Investigator</a:t>
            </a:r>
            <a:endParaRPr lang="en-US" sz="1000" dirty="0"/>
          </a:p>
        </p:txBody>
      </p:sp>
      <p:sp>
        <p:nvSpPr>
          <p:cNvPr id="17" name="Text 15"/>
          <p:cNvSpPr/>
          <p:nvPr/>
        </p:nvSpPr>
        <p:spPr>
          <a:xfrm>
            <a:off x="3344317" y="1450479"/>
            <a:ext cx="2504626" cy="190500"/>
          </a:xfrm>
          <a:prstGeom prst="rect">
            <a:avLst/>
          </a:prstGeom>
          <a:noFill/>
          <a:ln/>
        </p:spPr>
        <p:txBody>
          <a:bodyPr wrap="square" lIns="0" tIns="0" rIns="0" bIns="0" rtlCol="0" anchor="t"/>
          <a:lstStyle/>
          <a:p>
            <a:pPr marL="0" indent="0" algn="l">
              <a:spcAft>
                <a:spcPts val="600"/>
              </a:spcAft>
              <a:buNone/>
            </a:pPr>
            <a:r>
              <a:rPr lang="en-US" sz="700" i="1" dirty="0">
                <a:solidFill>
                  <a:srgbClr val="6B7280"/>
                </a:solidFill>
                <a:latin typeface="Arial" pitchFamily="34" charset="0"/>
                <a:ea typeface="Arial" pitchFamily="34" charset="-122"/>
                <a:cs typeface="Arial" pitchFamily="34" charset="-120"/>
              </a:rPr>
              <a:t>"I need to validate my hypothesis about synthetic lethal targets before writing a grant"</a:t>
            </a:r>
            <a:endParaRPr lang="en-US" sz="700" dirty="0"/>
          </a:p>
        </p:txBody>
      </p:sp>
      <p:sp>
        <p:nvSpPr>
          <p:cNvPr id="18" name="Text 16"/>
          <p:cNvSpPr/>
          <p:nvPr/>
        </p:nvSpPr>
        <p:spPr>
          <a:xfrm>
            <a:off x="3344317" y="1717179"/>
            <a:ext cx="2504626" cy="104775"/>
          </a:xfrm>
          <a:prstGeom prst="rect">
            <a:avLst/>
          </a:prstGeom>
          <a:noFill/>
          <a:ln/>
        </p:spPr>
        <p:txBody>
          <a:bodyPr wrap="square" lIns="0" tIns="0" rIns="0" bIns="0" rtlCol="0" anchor="t"/>
          <a:lstStyle/>
          <a:p>
            <a:pPr marL="0" indent="0" algn="l">
              <a:spcAft>
                <a:spcPts val="200"/>
              </a:spcAft>
              <a:buNone/>
            </a:pPr>
            <a:r>
              <a:rPr lang="en-US" sz="750" b="1" dirty="0">
                <a:solidFill>
                  <a:srgbClr val="1B2A4A"/>
                </a:solidFill>
                <a:latin typeface="Arial" pitchFamily="34" charset="0"/>
                <a:ea typeface="Arial" pitchFamily="34" charset="-122"/>
                <a:cs typeface="Arial" pitchFamily="34" charset="-120"/>
              </a:rPr>
              <a:t>Benchmark:</a:t>
            </a:r>
            <a:endParaRPr lang="en-US" sz="750" dirty="0"/>
          </a:p>
        </p:txBody>
      </p:sp>
      <p:sp>
        <p:nvSpPr>
          <p:cNvPr id="19" name="Text 17"/>
          <p:cNvSpPr/>
          <p:nvPr/>
        </p:nvSpPr>
        <p:spPr>
          <a:xfrm>
            <a:off x="3344317" y="1847255"/>
            <a:ext cx="2504626" cy="95250"/>
          </a:xfrm>
          <a:prstGeom prst="rect">
            <a:avLst/>
          </a:prstGeom>
          <a:noFill/>
          <a:ln/>
        </p:spPr>
        <p:txBody>
          <a:bodyPr wrap="square" lIns="0" tIns="0" rIns="0" bIns="0" rtlCol="0" anchor="t"/>
          <a:lstStyle/>
          <a:p>
            <a:pPr marL="0" indent="0" algn="l">
              <a:spcAft>
                <a:spcPts val="400"/>
              </a:spcAft>
              <a:buNone/>
            </a:pPr>
            <a:r>
              <a:rPr lang="en-US" sz="700" dirty="0">
                <a:solidFill>
                  <a:srgbClr val="374151"/>
                </a:solidFill>
                <a:latin typeface="Arial" pitchFamily="34" charset="0"/>
                <a:ea typeface="Arial" pitchFamily="34" charset="-122"/>
                <a:cs typeface="Arial" pitchFamily="34" charset="-120"/>
              </a:rPr>
              <a:t>ARID1A Synthetic Lethality — multi-source validation</a:t>
            </a:r>
            <a:endParaRPr lang="en-US" sz="700" dirty="0"/>
          </a:p>
        </p:txBody>
      </p:sp>
      <p:sp>
        <p:nvSpPr>
          <p:cNvPr id="20" name="Text 18"/>
          <p:cNvSpPr/>
          <p:nvPr/>
        </p:nvSpPr>
        <p:spPr>
          <a:xfrm>
            <a:off x="3344317" y="1993255"/>
            <a:ext cx="2504626" cy="104775"/>
          </a:xfrm>
          <a:prstGeom prst="rect">
            <a:avLst/>
          </a:prstGeom>
          <a:noFill/>
          <a:ln/>
        </p:spPr>
        <p:txBody>
          <a:bodyPr wrap="square" lIns="0" tIns="0" rIns="0" bIns="0" rtlCol="0" anchor="t"/>
          <a:lstStyle/>
          <a:p>
            <a:pPr marL="0" indent="0" algn="l">
              <a:spcAft>
                <a:spcPts val="200"/>
              </a:spcAft>
              <a:buNone/>
            </a:pPr>
            <a:r>
              <a:rPr lang="en-US" sz="750" b="1" dirty="0">
                <a:solidFill>
                  <a:srgbClr val="1B2A4A"/>
                </a:solidFill>
                <a:latin typeface="Arial" pitchFamily="34" charset="0"/>
                <a:ea typeface="Arial" pitchFamily="34" charset="-122"/>
                <a:cs typeface="Arial" pitchFamily="34" charset="-120"/>
              </a:rPr>
              <a:t>Value:</a:t>
            </a:r>
            <a:endParaRPr lang="en-US" sz="750" dirty="0"/>
          </a:p>
        </p:txBody>
      </p:sp>
      <p:sp>
        <p:nvSpPr>
          <p:cNvPr id="21" name="Text 19"/>
          <p:cNvSpPr/>
          <p:nvPr/>
        </p:nvSpPr>
        <p:spPr>
          <a:xfrm>
            <a:off x="3344317" y="2123331"/>
            <a:ext cx="2504626" cy="95250"/>
          </a:xfrm>
          <a:prstGeom prst="rect">
            <a:avLst/>
          </a:prstGeom>
          <a:noFill/>
          <a:ln/>
        </p:spPr>
        <p:txBody>
          <a:bodyPr wrap="square" lIns="0" tIns="0" rIns="0" bIns="0" rtlCol="0" anchor="t"/>
          <a:lstStyle/>
          <a:p>
            <a:pPr marL="0" indent="0" algn="l">
              <a:spcAft>
                <a:spcPts val="400"/>
              </a:spcAft>
              <a:buNone/>
            </a:pPr>
            <a:r>
              <a:rPr lang="en-US" sz="700" dirty="0">
                <a:solidFill>
                  <a:srgbClr val="374151"/>
                </a:solidFill>
                <a:latin typeface="Arial" pitchFamily="34" charset="0"/>
                <a:ea typeface="Arial" pitchFamily="34" charset="-122"/>
                <a:cs typeface="Arial" pitchFamily="34" charset="-120"/>
              </a:rPr>
              <a:t>Multi-database triangulation with evidence grading</a:t>
            </a:r>
            <a:endParaRPr lang="en-US" sz="700" dirty="0"/>
          </a:p>
        </p:txBody>
      </p:sp>
      <p:sp>
        <p:nvSpPr>
          <p:cNvPr id="22" name="Text 20"/>
          <p:cNvSpPr/>
          <p:nvPr/>
        </p:nvSpPr>
        <p:spPr>
          <a:xfrm>
            <a:off x="3344317" y="2269331"/>
            <a:ext cx="2455515" cy="196751"/>
          </a:xfrm>
          <a:prstGeom prst="roundRect">
            <a:avLst>
              <a:gd name="adj" fmla="val 19365"/>
            </a:avLst>
          </a:prstGeom>
          <a:solidFill>
            <a:srgbClr val="1B2A4A"/>
          </a:solidFill>
          <a:ln/>
        </p:spPr>
        <p:txBody>
          <a:bodyPr wrap="square" rtlCol="0" anchor="ctr"/>
          <a:lstStyle/>
          <a:p>
            <a:pPr marL="0" indent="0">
              <a:buNone/>
            </a:pPr>
            <a:endParaRPr lang="en-US" dirty="0"/>
          </a:p>
        </p:txBody>
      </p:sp>
      <p:sp>
        <p:nvSpPr>
          <p:cNvPr id="23" name="Text 21"/>
          <p:cNvSpPr/>
          <p:nvPr/>
        </p:nvSpPr>
        <p:spPr>
          <a:xfrm>
            <a:off x="3397486" y="2320082"/>
            <a:ext cx="2349178" cy="95250"/>
          </a:xfrm>
          <a:prstGeom prst="rect">
            <a:avLst/>
          </a:prstGeom>
          <a:noFill/>
          <a:ln/>
        </p:spPr>
        <p:txBody>
          <a:bodyPr wrap="square" lIns="0" tIns="0" rIns="0" bIns="0" rtlCol="0" anchor="t"/>
          <a:lstStyle/>
          <a:p>
            <a:pPr marL="0" indent="0" algn="ctr">
              <a:buNone/>
            </a:pPr>
            <a:r>
              <a:rPr lang="en-US" sz="700" dirty="0">
                <a:solidFill>
                  <a:srgbClr val="FFFFFF"/>
                </a:solidFill>
                <a:latin typeface="Arial" pitchFamily="34" charset="0"/>
                <a:ea typeface="Arial" pitchFamily="34" charset="-122"/>
                <a:cs typeface="Arial" pitchFamily="34" charset="-120"/>
              </a:rPr>
              <a:t>"Cross-reference my targets against all data"</a:t>
            </a:r>
            <a:endParaRPr lang="en-US" sz="700" dirty="0"/>
          </a:p>
        </p:txBody>
      </p:sp>
      <p:sp>
        <p:nvSpPr>
          <p:cNvPr id="24" name="Text 22"/>
          <p:cNvSpPr/>
          <p:nvPr/>
        </p:nvSpPr>
        <p:spPr>
          <a:xfrm>
            <a:off x="6079182" y="1091803"/>
            <a:ext cx="2709416" cy="3873996"/>
          </a:xfrm>
          <a:prstGeom prst="roundRect">
            <a:avLst>
              <a:gd name="adj" fmla="val 1875"/>
            </a:avLst>
          </a:prstGeom>
          <a:solidFill>
            <a:srgbClr val="F0F2F5"/>
          </a:solidFill>
          <a:ln/>
        </p:spPr>
        <p:txBody>
          <a:bodyPr wrap="square" rtlCol="0" anchor="ctr"/>
          <a:lstStyle/>
          <a:p>
            <a:pPr marL="0" indent="0">
              <a:buNone/>
            </a:pPr>
            <a:endParaRPr lang="en-US" dirty="0"/>
          </a:p>
        </p:txBody>
      </p:sp>
      <p:sp>
        <p:nvSpPr>
          <p:cNvPr id="25" name="Shape 23"/>
          <p:cNvSpPr/>
          <p:nvPr/>
        </p:nvSpPr>
        <p:spPr>
          <a:xfrm>
            <a:off x="6079182" y="1110853"/>
            <a:ext cx="2709416" cy="0"/>
          </a:xfrm>
          <a:prstGeom prst="line">
            <a:avLst/>
          </a:prstGeom>
          <a:noFill/>
          <a:ln w="38100">
            <a:solidFill>
              <a:srgbClr val="2E8B8B"/>
            </a:solidFill>
            <a:prstDash val="solid"/>
          </a:ln>
        </p:spPr>
        <p:txBody>
          <a:bodyPr/>
          <a:lstStyle/>
          <a:p>
            <a:endParaRPr lang="en-US"/>
          </a:p>
        </p:txBody>
      </p:sp>
      <p:sp>
        <p:nvSpPr>
          <p:cNvPr id="26" name="Text 24"/>
          <p:cNvSpPr/>
          <p:nvPr/>
        </p:nvSpPr>
        <p:spPr>
          <a:xfrm>
            <a:off x="6206133" y="1256854"/>
            <a:ext cx="2504626" cy="142875"/>
          </a:xfrm>
          <a:prstGeom prst="rect">
            <a:avLst/>
          </a:prstGeom>
          <a:noFill/>
          <a:ln/>
        </p:spPr>
        <p:txBody>
          <a:bodyPr wrap="square" lIns="0" tIns="0" rIns="0" bIns="0" rtlCol="0" anchor="t"/>
          <a:lstStyle/>
          <a:p>
            <a:pPr marL="0" indent="0" algn="l">
              <a:spcAft>
                <a:spcPts val="400"/>
              </a:spcAft>
              <a:buNone/>
            </a:pPr>
            <a:r>
              <a:rPr lang="en-US" sz="1000" b="1" dirty="0">
                <a:solidFill>
                  <a:srgbClr val="1B2A4A"/>
                </a:solidFill>
                <a:latin typeface="Arial" pitchFamily="34" charset="0"/>
                <a:ea typeface="Arial" pitchFamily="34" charset="-122"/>
                <a:cs typeface="Arial" pitchFamily="34" charset="-120"/>
              </a:rPr>
              <a:t>Project Manager</a:t>
            </a:r>
            <a:endParaRPr lang="en-US" sz="1000" dirty="0"/>
          </a:p>
        </p:txBody>
      </p:sp>
      <p:sp>
        <p:nvSpPr>
          <p:cNvPr id="27" name="Text 25"/>
          <p:cNvSpPr/>
          <p:nvPr/>
        </p:nvSpPr>
        <p:spPr>
          <a:xfrm>
            <a:off x="6206133" y="1450479"/>
            <a:ext cx="2504626" cy="190500"/>
          </a:xfrm>
          <a:prstGeom prst="rect">
            <a:avLst/>
          </a:prstGeom>
          <a:noFill/>
          <a:ln/>
        </p:spPr>
        <p:txBody>
          <a:bodyPr wrap="square" lIns="0" tIns="0" rIns="0" bIns="0" rtlCol="0" anchor="t"/>
          <a:lstStyle/>
          <a:p>
            <a:pPr marL="0" indent="0" algn="l">
              <a:spcAft>
                <a:spcPts val="600"/>
              </a:spcAft>
              <a:buNone/>
            </a:pPr>
            <a:r>
              <a:rPr lang="en-US" sz="700" i="1" dirty="0">
                <a:solidFill>
                  <a:srgbClr val="6B7280"/>
                </a:solidFill>
                <a:latin typeface="Arial" pitchFamily="34" charset="0"/>
                <a:ea typeface="Arial" pitchFamily="34" charset="-122"/>
                <a:cs typeface="Arial" pitchFamily="34" charset="-120"/>
              </a:rPr>
              <a:t>"I need to understand the clinical landscape to prioritize resources"</a:t>
            </a:r>
            <a:endParaRPr lang="en-US" sz="700" dirty="0"/>
          </a:p>
        </p:txBody>
      </p:sp>
      <p:sp>
        <p:nvSpPr>
          <p:cNvPr id="28" name="Text 26"/>
          <p:cNvSpPr/>
          <p:nvPr/>
        </p:nvSpPr>
        <p:spPr>
          <a:xfrm>
            <a:off x="6206133" y="1717179"/>
            <a:ext cx="2504626" cy="104775"/>
          </a:xfrm>
          <a:prstGeom prst="rect">
            <a:avLst/>
          </a:prstGeom>
          <a:noFill/>
          <a:ln/>
        </p:spPr>
        <p:txBody>
          <a:bodyPr wrap="square" lIns="0" tIns="0" rIns="0" bIns="0" rtlCol="0" anchor="t"/>
          <a:lstStyle/>
          <a:p>
            <a:pPr marL="0" indent="0" algn="l">
              <a:spcAft>
                <a:spcPts val="200"/>
              </a:spcAft>
              <a:buNone/>
            </a:pPr>
            <a:r>
              <a:rPr lang="en-US" sz="750" b="1" dirty="0">
                <a:solidFill>
                  <a:srgbClr val="1B2A4A"/>
                </a:solidFill>
                <a:latin typeface="Arial" pitchFamily="34" charset="0"/>
                <a:ea typeface="Arial" pitchFamily="34" charset="-122"/>
                <a:cs typeface="Arial" pitchFamily="34" charset="-120"/>
              </a:rPr>
              <a:t>Benchmark:</a:t>
            </a:r>
            <a:endParaRPr lang="en-US" sz="750" dirty="0"/>
          </a:p>
        </p:txBody>
      </p:sp>
      <p:sp>
        <p:nvSpPr>
          <p:cNvPr id="29" name="Text 27"/>
          <p:cNvSpPr/>
          <p:nvPr/>
        </p:nvSpPr>
        <p:spPr>
          <a:xfrm>
            <a:off x="6206133" y="1847255"/>
            <a:ext cx="2504626" cy="95250"/>
          </a:xfrm>
          <a:prstGeom prst="rect">
            <a:avLst/>
          </a:prstGeom>
          <a:noFill/>
          <a:ln/>
        </p:spPr>
        <p:txBody>
          <a:bodyPr wrap="square" lIns="0" tIns="0" rIns="0" bIns="0" rtlCol="0" anchor="t"/>
          <a:lstStyle/>
          <a:p>
            <a:pPr marL="0" indent="0" algn="l">
              <a:spcAft>
                <a:spcPts val="400"/>
              </a:spcAft>
              <a:buNone/>
            </a:pPr>
            <a:r>
              <a:rPr lang="en-US" sz="700" dirty="0">
                <a:solidFill>
                  <a:srgbClr val="374151"/>
                </a:solidFill>
                <a:latin typeface="Arial" pitchFamily="34" charset="0"/>
                <a:ea typeface="Arial" pitchFamily="34" charset="-122"/>
                <a:cs typeface="Arial" pitchFamily="34" charset="-120"/>
              </a:rPr>
              <a:t>Health Emergency Landscape — 18,636+ trials</a:t>
            </a:r>
            <a:endParaRPr lang="en-US" sz="700" dirty="0"/>
          </a:p>
        </p:txBody>
      </p:sp>
      <p:sp>
        <p:nvSpPr>
          <p:cNvPr id="30" name="Text 28"/>
          <p:cNvSpPr/>
          <p:nvPr/>
        </p:nvSpPr>
        <p:spPr>
          <a:xfrm>
            <a:off x="6206133" y="1993255"/>
            <a:ext cx="2504626" cy="104775"/>
          </a:xfrm>
          <a:prstGeom prst="rect">
            <a:avLst/>
          </a:prstGeom>
          <a:noFill/>
          <a:ln/>
        </p:spPr>
        <p:txBody>
          <a:bodyPr wrap="square" lIns="0" tIns="0" rIns="0" bIns="0" rtlCol="0" anchor="t"/>
          <a:lstStyle/>
          <a:p>
            <a:pPr marL="0" indent="0" algn="l">
              <a:spcAft>
                <a:spcPts val="200"/>
              </a:spcAft>
              <a:buNone/>
            </a:pPr>
            <a:r>
              <a:rPr lang="en-US" sz="750" b="1" dirty="0">
                <a:solidFill>
                  <a:srgbClr val="1B2A4A"/>
                </a:solidFill>
                <a:latin typeface="Arial" pitchFamily="34" charset="0"/>
                <a:ea typeface="Arial" pitchFamily="34" charset="-122"/>
                <a:cs typeface="Arial" pitchFamily="34" charset="-120"/>
              </a:rPr>
              <a:t>Value:</a:t>
            </a:r>
            <a:endParaRPr lang="en-US" sz="750" dirty="0"/>
          </a:p>
        </p:txBody>
      </p:sp>
      <p:sp>
        <p:nvSpPr>
          <p:cNvPr id="31" name="Text 29"/>
          <p:cNvSpPr/>
          <p:nvPr/>
        </p:nvSpPr>
        <p:spPr>
          <a:xfrm>
            <a:off x="6206133" y="2123331"/>
            <a:ext cx="2504626" cy="95250"/>
          </a:xfrm>
          <a:prstGeom prst="rect">
            <a:avLst/>
          </a:prstGeom>
          <a:noFill/>
          <a:ln/>
        </p:spPr>
        <p:txBody>
          <a:bodyPr wrap="square" lIns="0" tIns="0" rIns="0" bIns="0" rtlCol="0" anchor="t"/>
          <a:lstStyle/>
          <a:p>
            <a:pPr marL="0" indent="0" algn="l">
              <a:spcAft>
                <a:spcPts val="400"/>
              </a:spcAft>
              <a:buNone/>
            </a:pPr>
            <a:r>
              <a:rPr lang="en-US" sz="700" dirty="0">
                <a:solidFill>
                  <a:srgbClr val="374151"/>
                </a:solidFill>
                <a:latin typeface="Arial" pitchFamily="34" charset="0"/>
                <a:ea typeface="Arial" pitchFamily="34" charset="-122"/>
                <a:cs typeface="Arial" pitchFamily="34" charset="-120"/>
              </a:rPr>
              <a:t>Rapid clinical landscape with structured output</a:t>
            </a:r>
            <a:endParaRPr lang="en-US" sz="700" dirty="0"/>
          </a:p>
        </p:txBody>
      </p:sp>
      <p:sp>
        <p:nvSpPr>
          <p:cNvPr id="32" name="Text 30"/>
          <p:cNvSpPr/>
          <p:nvPr/>
        </p:nvSpPr>
        <p:spPr>
          <a:xfrm>
            <a:off x="6206133" y="2269331"/>
            <a:ext cx="2455515" cy="196751"/>
          </a:xfrm>
          <a:prstGeom prst="roundRect">
            <a:avLst>
              <a:gd name="adj" fmla="val 19365"/>
            </a:avLst>
          </a:prstGeom>
          <a:solidFill>
            <a:srgbClr val="1B2A4A"/>
          </a:solidFill>
          <a:ln/>
        </p:spPr>
        <p:txBody>
          <a:bodyPr wrap="square" rtlCol="0" anchor="ctr"/>
          <a:lstStyle/>
          <a:p>
            <a:pPr marL="0" indent="0">
              <a:buNone/>
            </a:pPr>
            <a:endParaRPr lang="en-US" dirty="0"/>
          </a:p>
        </p:txBody>
      </p:sp>
      <p:sp>
        <p:nvSpPr>
          <p:cNvPr id="33" name="Text 31"/>
          <p:cNvSpPr/>
          <p:nvPr/>
        </p:nvSpPr>
        <p:spPr>
          <a:xfrm>
            <a:off x="6259302" y="2320082"/>
            <a:ext cx="2349178" cy="95250"/>
          </a:xfrm>
          <a:prstGeom prst="rect">
            <a:avLst/>
          </a:prstGeom>
          <a:noFill/>
          <a:ln/>
        </p:spPr>
        <p:txBody>
          <a:bodyPr wrap="square" lIns="0" tIns="0" rIns="0" bIns="0" rtlCol="0" anchor="t"/>
          <a:lstStyle/>
          <a:p>
            <a:pPr marL="0" indent="0" algn="ctr">
              <a:buNone/>
            </a:pPr>
            <a:r>
              <a:rPr lang="en-US" sz="700" dirty="0">
                <a:solidFill>
                  <a:srgbClr val="FFFFFF"/>
                </a:solidFill>
                <a:latin typeface="Arial" pitchFamily="34" charset="0"/>
                <a:ea typeface="Arial" pitchFamily="34" charset="-122"/>
                <a:cs typeface="Arial" pitchFamily="34" charset="-120"/>
              </a:rPr>
              <a:t>"Give me an evidence-based overview for leadership"</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Three Value Propositions for Sage</a:t>
            </a:r>
            <a:endParaRPr lang="en-US" sz="2200" dirty="0"/>
          </a:p>
        </p:txBody>
      </p:sp>
      <p:sp>
        <p:nvSpPr>
          <p:cNvPr id="4" name="Text 2"/>
          <p:cNvSpPr/>
          <p:nvPr/>
        </p:nvSpPr>
        <p:spPr>
          <a:xfrm>
            <a:off x="355550" y="1091803"/>
            <a:ext cx="2709416" cy="3873996"/>
          </a:xfrm>
          <a:prstGeom prst="roundRect">
            <a:avLst>
              <a:gd name="adj" fmla="val 1875"/>
            </a:avLst>
          </a:prstGeom>
          <a:solidFill>
            <a:srgbClr val="F0F2F5"/>
          </a:solidFill>
          <a:ln/>
        </p:spPr>
        <p:txBody>
          <a:bodyPr wrap="square" rtlCol="0" anchor="ctr"/>
          <a:lstStyle/>
          <a:p>
            <a:pPr marL="0" indent="0">
              <a:buNone/>
            </a:pPr>
            <a:endParaRPr lang="en-US" dirty="0"/>
          </a:p>
        </p:txBody>
      </p:sp>
      <p:sp>
        <p:nvSpPr>
          <p:cNvPr id="5" name="Text 3"/>
          <p:cNvSpPr/>
          <p:nvPr/>
        </p:nvSpPr>
        <p:spPr>
          <a:xfrm>
            <a:off x="507950" y="1244203"/>
            <a:ext cx="2452708" cy="142875"/>
          </a:xfrm>
          <a:prstGeom prst="rect">
            <a:avLst/>
          </a:prstGeom>
          <a:noFill/>
          <a:ln/>
        </p:spPr>
        <p:txBody>
          <a:bodyPr wrap="square" lIns="0" tIns="0" rIns="0" bIns="0" rtlCol="0" anchor="t"/>
          <a:lstStyle/>
          <a:p>
            <a:pPr marL="0" indent="0" algn="l">
              <a:spcAft>
                <a:spcPts val="800"/>
              </a:spcAft>
              <a:buNone/>
            </a:pPr>
            <a:r>
              <a:rPr lang="en-US" sz="1000" b="1" dirty="0">
                <a:solidFill>
                  <a:srgbClr val="1B2A4A"/>
                </a:solidFill>
                <a:latin typeface="Arial" pitchFamily="34" charset="0"/>
                <a:ea typeface="Arial" pitchFamily="34" charset="-122"/>
                <a:cs typeface="Arial" pitchFamily="34" charset="-120"/>
              </a:rPr>
              <a:t>Structured Validation &amp; Testing</a:t>
            </a:r>
            <a:endParaRPr lang="en-US" sz="1000" dirty="0"/>
          </a:p>
        </p:txBody>
      </p:sp>
      <p:sp>
        <p:nvSpPr>
          <p:cNvPr id="6" name="Text 4"/>
          <p:cNvSpPr/>
          <p:nvPr/>
        </p:nvSpPr>
        <p:spPr>
          <a:xfrm>
            <a:off x="507950" y="1488579"/>
            <a:ext cx="2404616" cy="2956620"/>
          </a:xfrm>
          <a:prstGeom prst="rect">
            <a:avLst/>
          </a:prstGeom>
          <a:noFill/>
          <a:ln/>
        </p:spPr>
        <p:txBody>
          <a:bodyPr wrap="square" lIns="88900" tIns="0" rIns="0" bIns="0" rtlCol="0" anchor="t"/>
          <a:lstStyle/>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15 benchmark questions with gold-standard answers</a:t>
            </a:r>
            <a:endParaRPr lang="en-US" sz="800" dirty="0"/>
          </a:p>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10-dimension quality scoring framework</a:t>
            </a:r>
            <a:endParaRPr lang="en-US" sz="800" dirty="0"/>
          </a:p>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Reproducible test suite for any LLM tool comparison</a:t>
            </a:r>
            <a:endParaRPr lang="en-US" sz="800" dirty="0"/>
          </a:p>
        </p:txBody>
      </p:sp>
      <p:sp>
        <p:nvSpPr>
          <p:cNvPr id="7" name="Text 5"/>
          <p:cNvSpPr/>
          <p:nvPr/>
        </p:nvSpPr>
        <p:spPr>
          <a:xfrm>
            <a:off x="507950" y="4546699"/>
            <a:ext cx="2404616" cy="266700"/>
          </a:xfrm>
          <a:prstGeom prst="roundRect">
            <a:avLst>
              <a:gd name="adj" fmla="val 14286"/>
            </a:avLst>
          </a:prstGeom>
          <a:solidFill>
            <a:srgbClr val="2E8B8B"/>
          </a:solidFill>
          <a:ln/>
        </p:spPr>
        <p:txBody>
          <a:bodyPr wrap="square" rtlCol="0" anchor="ctr"/>
          <a:lstStyle/>
          <a:p>
            <a:pPr marL="0" indent="0">
              <a:buNone/>
            </a:pPr>
            <a:endParaRPr lang="en-US" dirty="0"/>
          </a:p>
        </p:txBody>
      </p:sp>
      <p:sp>
        <p:nvSpPr>
          <p:cNvPr id="8" name="Text 6"/>
          <p:cNvSpPr/>
          <p:nvPr/>
        </p:nvSpPr>
        <p:spPr>
          <a:xfrm>
            <a:off x="587435" y="4622899"/>
            <a:ext cx="2245647"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The baseline Sage has been looking for</a:t>
            </a:r>
            <a:endParaRPr lang="en-US" sz="800" dirty="0"/>
          </a:p>
        </p:txBody>
      </p:sp>
      <p:sp>
        <p:nvSpPr>
          <p:cNvPr id="9" name="Text 7"/>
          <p:cNvSpPr/>
          <p:nvPr/>
        </p:nvSpPr>
        <p:spPr>
          <a:xfrm>
            <a:off x="3217366" y="1091803"/>
            <a:ext cx="2709416" cy="3873996"/>
          </a:xfrm>
          <a:prstGeom prst="roundRect">
            <a:avLst>
              <a:gd name="adj" fmla="val 1875"/>
            </a:avLst>
          </a:prstGeom>
          <a:solidFill>
            <a:srgbClr val="F0F2F5"/>
          </a:solidFill>
          <a:ln/>
        </p:spPr>
        <p:txBody>
          <a:bodyPr wrap="square" rtlCol="0" anchor="ctr"/>
          <a:lstStyle/>
          <a:p>
            <a:pPr marL="0" indent="0">
              <a:buNone/>
            </a:pPr>
            <a:endParaRPr lang="en-US" dirty="0"/>
          </a:p>
        </p:txBody>
      </p:sp>
      <p:sp>
        <p:nvSpPr>
          <p:cNvPr id="10" name="Text 8"/>
          <p:cNvSpPr/>
          <p:nvPr/>
        </p:nvSpPr>
        <p:spPr>
          <a:xfrm>
            <a:off x="3369766" y="1244203"/>
            <a:ext cx="2452708" cy="142875"/>
          </a:xfrm>
          <a:prstGeom prst="rect">
            <a:avLst/>
          </a:prstGeom>
          <a:noFill/>
          <a:ln/>
        </p:spPr>
        <p:txBody>
          <a:bodyPr wrap="square" lIns="0" tIns="0" rIns="0" bIns="0" rtlCol="0" anchor="t"/>
          <a:lstStyle/>
          <a:p>
            <a:pPr marL="0" indent="0" algn="l">
              <a:spcAft>
                <a:spcPts val="800"/>
              </a:spcAft>
              <a:buNone/>
            </a:pPr>
            <a:r>
              <a:rPr lang="en-US" sz="1000" b="1" dirty="0">
                <a:solidFill>
                  <a:srgbClr val="1B2A4A"/>
                </a:solidFill>
                <a:latin typeface="Arial" pitchFamily="34" charset="0"/>
                <a:ea typeface="Arial" pitchFamily="34" charset="-122"/>
                <a:cs typeface="Arial" pitchFamily="34" charset="-120"/>
              </a:rPr>
              <a:t>Data Context &amp; Curation</a:t>
            </a:r>
            <a:endParaRPr lang="en-US" sz="1000" dirty="0"/>
          </a:p>
        </p:txBody>
      </p:sp>
      <p:sp>
        <p:nvSpPr>
          <p:cNvPr id="11" name="Text 9"/>
          <p:cNvSpPr/>
          <p:nvPr/>
        </p:nvSpPr>
        <p:spPr>
          <a:xfrm>
            <a:off x="3369766" y="1488579"/>
            <a:ext cx="2404616" cy="2956620"/>
          </a:xfrm>
          <a:prstGeom prst="rect">
            <a:avLst/>
          </a:prstGeom>
          <a:noFill/>
          <a:ln/>
        </p:spPr>
        <p:txBody>
          <a:bodyPr wrap="square" lIns="88900" tIns="0" rIns="0" bIns="0" rtlCol="0" anchor="t"/>
          <a:lstStyle/>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Automated Synapse dataset grounding</a:t>
            </a:r>
            <a:endParaRPr lang="en-US" sz="800" dirty="0"/>
          </a:p>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Knowledge graph overlay on existing Sage data</a:t>
            </a:r>
            <a:endParaRPr lang="en-US" sz="800" dirty="0"/>
          </a:p>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Evidence-graded relationships with CURIE provenance</a:t>
            </a:r>
            <a:endParaRPr lang="en-US" sz="800" dirty="0"/>
          </a:p>
        </p:txBody>
      </p:sp>
      <p:sp>
        <p:nvSpPr>
          <p:cNvPr id="12" name="Text 10"/>
          <p:cNvSpPr/>
          <p:nvPr/>
        </p:nvSpPr>
        <p:spPr>
          <a:xfrm>
            <a:off x="3369766" y="4546699"/>
            <a:ext cx="2404616" cy="266700"/>
          </a:xfrm>
          <a:prstGeom prst="roundRect">
            <a:avLst>
              <a:gd name="adj" fmla="val 14286"/>
            </a:avLst>
          </a:prstGeom>
          <a:solidFill>
            <a:srgbClr val="2E8B8B"/>
          </a:solidFill>
          <a:ln/>
        </p:spPr>
        <p:txBody>
          <a:bodyPr wrap="square" rtlCol="0" anchor="ctr"/>
          <a:lstStyle/>
          <a:p>
            <a:pPr marL="0" indent="0">
              <a:buNone/>
            </a:pPr>
            <a:endParaRPr lang="en-US" dirty="0"/>
          </a:p>
        </p:txBody>
      </p:sp>
      <p:sp>
        <p:nvSpPr>
          <p:cNvPr id="13" name="Text 11"/>
          <p:cNvSpPr/>
          <p:nvPr/>
        </p:nvSpPr>
        <p:spPr>
          <a:xfrm>
            <a:off x="3449251" y="4622899"/>
            <a:ext cx="2245647"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Turn Synapse data into structured knowledge</a:t>
            </a:r>
            <a:endParaRPr lang="en-US" sz="800" dirty="0"/>
          </a:p>
        </p:txBody>
      </p:sp>
      <p:sp>
        <p:nvSpPr>
          <p:cNvPr id="14" name="Text 12"/>
          <p:cNvSpPr/>
          <p:nvPr/>
        </p:nvSpPr>
        <p:spPr>
          <a:xfrm>
            <a:off x="6079182" y="1091803"/>
            <a:ext cx="2709416" cy="3873996"/>
          </a:xfrm>
          <a:prstGeom prst="roundRect">
            <a:avLst>
              <a:gd name="adj" fmla="val 1875"/>
            </a:avLst>
          </a:prstGeom>
          <a:solidFill>
            <a:srgbClr val="F0F2F5"/>
          </a:solidFill>
          <a:ln/>
        </p:spPr>
        <p:txBody>
          <a:bodyPr wrap="square" rtlCol="0" anchor="ctr"/>
          <a:lstStyle/>
          <a:p>
            <a:pPr marL="0" indent="0">
              <a:buNone/>
            </a:pPr>
            <a:endParaRPr lang="en-US" dirty="0"/>
          </a:p>
        </p:txBody>
      </p:sp>
      <p:sp>
        <p:nvSpPr>
          <p:cNvPr id="15" name="Text 13"/>
          <p:cNvSpPr/>
          <p:nvPr/>
        </p:nvSpPr>
        <p:spPr>
          <a:xfrm>
            <a:off x="6231582" y="1244203"/>
            <a:ext cx="2452708" cy="142875"/>
          </a:xfrm>
          <a:prstGeom prst="rect">
            <a:avLst/>
          </a:prstGeom>
          <a:noFill/>
          <a:ln/>
        </p:spPr>
        <p:txBody>
          <a:bodyPr wrap="square" lIns="0" tIns="0" rIns="0" bIns="0" rtlCol="0" anchor="t"/>
          <a:lstStyle/>
          <a:p>
            <a:pPr marL="0" indent="0" algn="l">
              <a:spcAft>
                <a:spcPts val="800"/>
              </a:spcAft>
              <a:buNone/>
            </a:pPr>
            <a:r>
              <a:rPr lang="en-US" sz="1000" b="1" dirty="0">
                <a:solidFill>
                  <a:srgbClr val="1B2A4A"/>
                </a:solidFill>
                <a:latin typeface="Arial" pitchFamily="34" charset="0"/>
                <a:ea typeface="Arial" pitchFamily="34" charset="-122"/>
                <a:cs typeface="Arial" pitchFamily="34" charset="-120"/>
              </a:rPr>
              <a:t>Unifying the Research Pipeline</a:t>
            </a:r>
            <a:endParaRPr lang="en-US" sz="1000" dirty="0"/>
          </a:p>
        </p:txBody>
      </p:sp>
      <p:sp>
        <p:nvSpPr>
          <p:cNvPr id="16" name="Text 14"/>
          <p:cNvSpPr/>
          <p:nvPr/>
        </p:nvSpPr>
        <p:spPr>
          <a:xfrm>
            <a:off x="6231582" y="1488579"/>
            <a:ext cx="2404616" cy="2842320"/>
          </a:xfrm>
          <a:prstGeom prst="rect">
            <a:avLst/>
          </a:prstGeom>
          <a:noFill/>
          <a:ln/>
        </p:spPr>
        <p:txBody>
          <a:bodyPr wrap="square" lIns="88900" tIns="0" rIns="0" bIns="0" rtlCol="0" anchor="t"/>
          <a:lstStyle/>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Fuzzy question to validated knowledge graph</a:t>
            </a:r>
            <a:endParaRPr lang="en-US" sz="800" dirty="0"/>
          </a:p>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13 APIs in reproducible 7-phase protocol</a:t>
            </a:r>
            <a:endParaRPr lang="en-US" sz="800" dirty="0"/>
          </a:p>
          <a:p>
            <a:pPr marL="88900" indent="-88900" algn="l">
              <a:lnSpc>
                <a:spcPts val="1360"/>
              </a:lnSpc>
              <a:buSzPct val="100000"/>
              <a:buChar char="•"/>
            </a:pPr>
            <a:r>
              <a:rPr lang="en-US" sz="800" dirty="0">
                <a:solidFill>
                  <a:srgbClr val="374151"/>
                </a:solidFill>
                <a:latin typeface="Arial" pitchFamily="34" charset="0"/>
                <a:ea typeface="Arial" pitchFamily="34" charset="-122"/>
                <a:cs typeface="Arial" pitchFamily="34" charset="-120"/>
              </a:rPr>
              <a:t>Persona-driven entry points for researchers</a:t>
            </a:r>
            <a:endParaRPr lang="en-US" sz="800" dirty="0"/>
          </a:p>
        </p:txBody>
      </p:sp>
      <p:sp>
        <p:nvSpPr>
          <p:cNvPr id="17" name="Text 15"/>
          <p:cNvSpPr/>
          <p:nvPr/>
        </p:nvSpPr>
        <p:spPr>
          <a:xfrm>
            <a:off x="6231582" y="4432399"/>
            <a:ext cx="2404616" cy="381000"/>
          </a:xfrm>
          <a:prstGeom prst="roundRect">
            <a:avLst>
              <a:gd name="adj" fmla="val 10000"/>
            </a:avLst>
          </a:prstGeom>
          <a:solidFill>
            <a:srgbClr val="2E8B8B"/>
          </a:solidFill>
          <a:ln/>
        </p:spPr>
        <p:txBody>
          <a:bodyPr wrap="square" rtlCol="0" anchor="ctr"/>
          <a:lstStyle/>
          <a:p>
            <a:pPr marL="0" indent="0">
              <a:buNone/>
            </a:pPr>
            <a:endParaRPr lang="en-US" dirty="0"/>
          </a:p>
        </p:txBody>
      </p:sp>
      <p:sp>
        <p:nvSpPr>
          <p:cNvPr id="18" name="Text 16"/>
          <p:cNvSpPr/>
          <p:nvPr/>
        </p:nvSpPr>
        <p:spPr>
          <a:xfrm>
            <a:off x="6311067" y="4508599"/>
            <a:ext cx="2245647" cy="2286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One protocol, from bench question to clinical context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Evidence Grading: L1-L4 Pyramid</a:t>
            </a:r>
            <a:endParaRPr lang="en-US" sz="2200" dirty="0"/>
          </a:p>
        </p:txBody>
      </p:sp>
      <p:sp>
        <p:nvSpPr>
          <p:cNvPr id="4" name="Text 2"/>
          <p:cNvSpPr/>
          <p:nvPr/>
        </p:nvSpPr>
        <p:spPr>
          <a:xfrm>
            <a:off x="1268760" y="2178100"/>
            <a:ext cx="3045172" cy="387251"/>
          </a:xfrm>
          <a:prstGeom prst="roundRect">
            <a:avLst>
              <a:gd name="adj" fmla="val 9839"/>
            </a:avLst>
          </a:prstGeom>
          <a:solidFill>
            <a:srgbClr val="1B2A4A"/>
          </a:solidFill>
          <a:ln/>
        </p:spPr>
        <p:txBody>
          <a:bodyPr wrap="square" rtlCol="0" anchor="ctr"/>
          <a:lstStyle/>
          <a:p>
            <a:pPr marL="0" indent="0">
              <a:buNone/>
            </a:pPr>
            <a:endParaRPr lang="en-US" dirty="0"/>
          </a:p>
        </p:txBody>
      </p:sp>
      <p:sp>
        <p:nvSpPr>
          <p:cNvPr id="5" name="Text 3"/>
          <p:cNvSpPr/>
          <p:nvPr/>
        </p:nvSpPr>
        <p:spPr>
          <a:xfrm>
            <a:off x="1367797" y="2254300"/>
            <a:ext cx="2847097"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L4 — Clinical Evidence (0.90-1.00)</a:t>
            </a:r>
            <a:endParaRPr lang="en-US" sz="800" dirty="0"/>
          </a:p>
        </p:txBody>
      </p:sp>
      <p:sp>
        <p:nvSpPr>
          <p:cNvPr id="6" name="Text 4"/>
          <p:cNvSpPr/>
          <p:nvPr/>
        </p:nvSpPr>
        <p:spPr>
          <a:xfrm>
            <a:off x="1367797" y="2393900"/>
            <a:ext cx="2847097" cy="95250"/>
          </a:xfrm>
          <a:prstGeom prst="rect">
            <a:avLst/>
          </a:prstGeom>
          <a:noFill/>
          <a:ln/>
        </p:spPr>
        <p:txBody>
          <a:bodyPr wrap="square" lIns="0" tIns="0" rIns="0" bIns="0" rtlCol="0" anchor="t"/>
          <a:lstStyle/>
          <a:p>
            <a:pPr marL="0" indent="0" algn="ctr">
              <a:spcBef>
                <a:spcPts val="200"/>
              </a:spcBef>
              <a:buNone/>
            </a:pPr>
            <a:r>
              <a:rPr lang="en-US" sz="650" dirty="0">
                <a:solidFill>
                  <a:srgbClr val="CBD5E1"/>
                </a:solidFill>
                <a:latin typeface="Arial" pitchFamily="34" charset="0"/>
                <a:ea typeface="Arial" pitchFamily="34" charset="-122"/>
                <a:cs typeface="Arial" pitchFamily="34" charset="-120"/>
              </a:rPr>
              <a:t>Drug-target confirmed by trials or FDA approval</a:t>
            </a:r>
            <a:endParaRPr lang="en-US" sz="650" dirty="0"/>
          </a:p>
        </p:txBody>
      </p:sp>
      <p:sp>
        <p:nvSpPr>
          <p:cNvPr id="7" name="Text 5"/>
          <p:cNvSpPr/>
          <p:nvPr/>
        </p:nvSpPr>
        <p:spPr>
          <a:xfrm>
            <a:off x="1015008" y="2616101"/>
            <a:ext cx="3552676" cy="387251"/>
          </a:xfrm>
          <a:prstGeom prst="roundRect">
            <a:avLst>
              <a:gd name="adj" fmla="val 9839"/>
            </a:avLst>
          </a:prstGeom>
          <a:solidFill>
            <a:srgbClr val="2D4A6A"/>
          </a:solidFill>
          <a:ln/>
        </p:spPr>
        <p:txBody>
          <a:bodyPr wrap="square" rtlCol="0" anchor="ctr"/>
          <a:lstStyle/>
          <a:p>
            <a:pPr marL="0" indent="0">
              <a:buNone/>
            </a:pPr>
            <a:endParaRPr lang="en-US" dirty="0"/>
          </a:p>
        </p:txBody>
      </p:sp>
      <p:sp>
        <p:nvSpPr>
          <p:cNvPr id="8" name="Text 6"/>
          <p:cNvSpPr/>
          <p:nvPr/>
        </p:nvSpPr>
        <p:spPr>
          <a:xfrm>
            <a:off x="1108970" y="2692301"/>
            <a:ext cx="3364751"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L3 — Functional Evidence (0.70-0.89)</a:t>
            </a:r>
            <a:endParaRPr lang="en-US" sz="800" dirty="0"/>
          </a:p>
        </p:txBody>
      </p:sp>
      <p:sp>
        <p:nvSpPr>
          <p:cNvPr id="9" name="Text 7"/>
          <p:cNvSpPr/>
          <p:nvPr/>
        </p:nvSpPr>
        <p:spPr>
          <a:xfrm>
            <a:off x="1108970" y="2831902"/>
            <a:ext cx="3364751" cy="95250"/>
          </a:xfrm>
          <a:prstGeom prst="rect">
            <a:avLst/>
          </a:prstGeom>
          <a:noFill/>
          <a:ln/>
        </p:spPr>
        <p:txBody>
          <a:bodyPr wrap="square" lIns="0" tIns="0" rIns="0" bIns="0" rtlCol="0" anchor="t"/>
          <a:lstStyle/>
          <a:p>
            <a:pPr marL="0" indent="0" algn="ctr">
              <a:spcBef>
                <a:spcPts val="200"/>
              </a:spcBef>
              <a:buNone/>
            </a:pPr>
            <a:r>
              <a:rPr lang="en-US" sz="650" dirty="0">
                <a:solidFill>
                  <a:srgbClr val="CBD5E1"/>
                </a:solidFill>
                <a:latin typeface="Arial" pitchFamily="34" charset="0"/>
                <a:ea typeface="Arial" pitchFamily="34" charset="-122"/>
                <a:cs typeface="Arial" pitchFamily="34" charset="-120"/>
              </a:rPr>
              <a:t>Validated by experimental data (STRING, BioGRID)</a:t>
            </a:r>
            <a:endParaRPr lang="en-US" sz="650" dirty="0"/>
          </a:p>
        </p:txBody>
      </p:sp>
      <p:sp>
        <p:nvSpPr>
          <p:cNvPr id="10" name="Text 8"/>
          <p:cNvSpPr/>
          <p:nvPr/>
        </p:nvSpPr>
        <p:spPr>
          <a:xfrm>
            <a:off x="685205" y="3054102"/>
            <a:ext cx="4212431" cy="387251"/>
          </a:xfrm>
          <a:prstGeom prst="roundRect">
            <a:avLst>
              <a:gd name="adj" fmla="val 9839"/>
            </a:avLst>
          </a:prstGeom>
          <a:solidFill>
            <a:srgbClr val="3D5A7A"/>
          </a:solidFill>
          <a:ln/>
        </p:spPr>
        <p:txBody>
          <a:bodyPr wrap="square" rtlCol="0" anchor="ctr"/>
          <a:lstStyle/>
          <a:p>
            <a:pPr marL="0" indent="0">
              <a:buNone/>
            </a:pPr>
            <a:endParaRPr lang="en-US" dirty="0"/>
          </a:p>
        </p:txBody>
      </p:sp>
      <p:sp>
        <p:nvSpPr>
          <p:cNvPr id="11" name="Text 9"/>
          <p:cNvSpPr/>
          <p:nvPr/>
        </p:nvSpPr>
        <p:spPr>
          <a:xfrm>
            <a:off x="772570" y="3130302"/>
            <a:ext cx="4037701"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L2 — Multi-Database (0.50-0.69)</a:t>
            </a:r>
            <a:endParaRPr lang="en-US" sz="800" dirty="0"/>
          </a:p>
        </p:txBody>
      </p:sp>
      <p:sp>
        <p:nvSpPr>
          <p:cNvPr id="12" name="Text 10"/>
          <p:cNvSpPr/>
          <p:nvPr/>
        </p:nvSpPr>
        <p:spPr>
          <a:xfrm>
            <a:off x="772570" y="3269903"/>
            <a:ext cx="4037701" cy="95250"/>
          </a:xfrm>
          <a:prstGeom prst="rect">
            <a:avLst/>
          </a:prstGeom>
          <a:noFill/>
          <a:ln/>
        </p:spPr>
        <p:txBody>
          <a:bodyPr wrap="square" lIns="0" tIns="0" rIns="0" bIns="0" rtlCol="0" anchor="t"/>
          <a:lstStyle/>
          <a:p>
            <a:pPr marL="0" indent="0" algn="ctr">
              <a:spcBef>
                <a:spcPts val="200"/>
              </a:spcBef>
              <a:buNone/>
            </a:pPr>
            <a:r>
              <a:rPr lang="en-US" sz="650" dirty="0">
                <a:solidFill>
                  <a:srgbClr val="CBD5E1"/>
                </a:solidFill>
                <a:latin typeface="Arial" pitchFamily="34" charset="0"/>
                <a:ea typeface="Arial" pitchFamily="34" charset="-122"/>
                <a:cs typeface="Arial" pitchFamily="34" charset="-120"/>
              </a:rPr>
              <a:t>Confirmed across 2+ databases</a:t>
            </a:r>
            <a:endParaRPr lang="en-US" sz="650" dirty="0"/>
          </a:p>
        </p:txBody>
      </p:sp>
      <p:sp>
        <p:nvSpPr>
          <p:cNvPr id="13" name="Text 11"/>
          <p:cNvSpPr/>
          <p:nvPr/>
        </p:nvSpPr>
        <p:spPr>
          <a:xfrm>
            <a:off x="380702" y="3492103"/>
            <a:ext cx="4821436" cy="387251"/>
          </a:xfrm>
          <a:prstGeom prst="roundRect">
            <a:avLst>
              <a:gd name="adj" fmla="val 9839"/>
            </a:avLst>
          </a:prstGeom>
          <a:solidFill>
            <a:srgbClr val="5A7A9A"/>
          </a:solidFill>
          <a:ln/>
        </p:spPr>
        <p:txBody>
          <a:bodyPr wrap="square" rtlCol="0" anchor="ctr"/>
          <a:lstStyle/>
          <a:p>
            <a:pPr marL="0" indent="0">
              <a:buNone/>
            </a:pPr>
            <a:endParaRPr lang="en-US" dirty="0"/>
          </a:p>
        </p:txBody>
      </p:sp>
      <p:sp>
        <p:nvSpPr>
          <p:cNvPr id="14" name="Text 12"/>
          <p:cNvSpPr/>
          <p:nvPr/>
        </p:nvSpPr>
        <p:spPr>
          <a:xfrm>
            <a:off x="461977" y="3568303"/>
            <a:ext cx="4658886"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L1 — Single Database (0.30-0.49)</a:t>
            </a:r>
            <a:endParaRPr lang="en-US" sz="800" dirty="0"/>
          </a:p>
        </p:txBody>
      </p:sp>
      <p:sp>
        <p:nvSpPr>
          <p:cNvPr id="15" name="Text 13"/>
          <p:cNvSpPr/>
          <p:nvPr/>
        </p:nvSpPr>
        <p:spPr>
          <a:xfrm>
            <a:off x="461977" y="3707904"/>
            <a:ext cx="4658886" cy="95250"/>
          </a:xfrm>
          <a:prstGeom prst="rect">
            <a:avLst/>
          </a:prstGeom>
          <a:noFill/>
          <a:ln/>
        </p:spPr>
        <p:txBody>
          <a:bodyPr wrap="square" lIns="0" tIns="0" rIns="0" bIns="0" rtlCol="0" anchor="t"/>
          <a:lstStyle/>
          <a:p>
            <a:pPr marL="0" indent="0" algn="ctr">
              <a:spcBef>
                <a:spcPts val="200"/>
              </a:spcBef>
              <a:buNone/>
            </a:pPr>
            <a:r>
              <a:rPr lang="en-US" sz="650" dirty="0">
                <a:solidFill>
                  <a:srgbClr val="CBD5E1"/>
                </a:solidFill>
                <a:latin typeface="Arial" pitchFamily="34" charset="0"/>
                <a:ea typeface="Arial" pitchFamily="34" charset="-122"/>
                <a:cs typeface="Arial" pitchFamily="34" charset="-120"/>
              </a:rPr>
              <a:t>Found in one source only</a:t>
            </a:r>
            <a:endParaRPr lang="en-US" sz="650" dirty="0"/>
          </a:p>
        </p:txBody>
      </p:sp>
      <p:sp>
        <p:nvSpPr>
          <p:cNvPr id="16" name="Text 14"/>
          <p:cNvSpPr/>
          <p:nvPr/>
        </p:nvSpPr>
        <p:spPr>
          <a:xfrm>
            <a:off x="5506641" y="2382292"/>
            <a:ext cx="3383459" cy="1293019"/>
          </a:xfrm>
          <a:prstGeom prst="roundRect">
            <a:avLst>
              <a:gd name="adj" fmla="val 5893"/>
            </a:avLst>
          </a:prstGeom>
          <a:solidFill>
            <a:srgbClr val="ECFDF5"/>
          </a:solidFill>
          <a:ln w="19050">
            <a:solidFill>
              <a:srgbClr val="2E8B8B"/>
            </a:solidFill>
          </a:ln>
        </p:spPr>
        <p:txBody>
          <a:bodyPr wrap="square" rtlCol="0" anchor="ctr"/>
          <a:lstStyle/>
          <a:p>
            <a:pPr marL="0" indent="0">
              <a:buNone/>
            </a:pPr>
            <a:endParaRPr lang="en-US" dirty="0"/>
          </a:p>
        </p:txBody>
      </p:sp>
      <p:sp>
        <p:nvSpPr>
          <p:cNvPr id="17" name="Text 15"/>
          <p:cNvSpPr/>
          <p:nvPr/>
        </p:nvSpPr>
        <p:spPr>
          <a:xfrm>
            <a:off x="5678091" y="2553742"/>
            <a:ext cx="3101370" cy="133350"/>
          </a:xfrm>
          <a:prstGeom prst="rect">
            <a:avLst/>
          </a:prstGeom>
          <a:noFill/>
          <a:ln/>
        </p:spPr>
        <p:txBody>
          <a:bodyPr wrap="square" lIns="0" tIns="0" rIns="0" bIns="0" rtlCol="0" anchor="t"/>
          <a:lstStyle/>
          <a:p>
            <a:pPr marL="0" indent="0" algn="l">
              <a:spcAft>
                <a:spcPts val="600"/>
              </a:spcAft>
              <a:buNone/>
            </a:pPr>
            <a:r>
              <a:rPr lang="en-US" sz="900" b="1" dirty="0">
                <a:solidFill>
                  <a:srgbClr val="1B2A4A"/>
                </a:solidFill>
                <a:latin typeface="Arial" pitchFamily="34" charset="0"/>
                <a:ea typeface="Arial" pitchFamily="34" charset="-122"/>
                <a:cs typeface="Arial" pitchFamily="34" charset="-120"/>
              </a:rPr>
              <a:t>Synapse Grounding Upgrade</a:t>
            </a:r>
            <a:endParaRPr lang="en-US" sz="900" dirty="0"/>
          </a:p>
        </p:txBody>
      </p:sp>
      <p:sp>
        <p:nvSpPr>
          <p:cNvPr id="18" name="Text 16"/>
          <p:cNvSpPr/>
          <p:nvPr/>
        </p:nvSpPr>
        <p:spPr>
          <a:xfrm>
            <a:off x="5678091" y="2763292"/>
            <a:ext cx="3101370" cy="285750"/>
          </a:xfrm>
          <a:prstGeom prst="rect">
            <a:avLst/>
          </a:prstGeom>
          <a:noFill/>
          <a:ln/>
        </p:spPr>
        <p:txBody>
          <a:bodyPr wrap="square" lIns="0" tIns="0" rIns="0" bIns="0" rtlCol="0" anchor="t"/>
          <a:lstStyle/>
          <a:p>
            <a:pPr marL="0" indent="0" algn="l">
              <a:lnSpc>
                <a:spcPts val="1125"/>
              </a:lnSpc>
              <a:buNone/>
            </a:pPr>
            <a:r>
              <a:rPr lang="en-US" sz="750" dirty="0">
                <a:solidFill>
                  <a:srgbClr val="374151"/>
                </a:solidFill>
                <a:latin typeface="Arial" pitchFamily="34" charset="0"/>
                <a:ea typeface="Arial" pitchFamily="34" charset="-122"/>
                <a:cs typeface="Arial" pitchFamily="34" charset="-120"/>
              </a:rPr>
              <a:t>When a KG node or edge is grounded in a Synapse dataset, its evidence level can be upgraded.</a:t>
            </a:r>
            <a:endParaRPr lang="en-US" sz="750" dirty="0"/>
          </a:p>
        </p:txBody>
      </p:sp>
      <p:sp>
        <p:nvSpPr>
          <p:cNvPr id="19" name="Text 17"/>
          <p:cNvSpPr/>
          <p:nvPr/>
        </p:nvSpPr>
        <p:spPr>
          <a:xfrm>
            <a:off x="5678091" y="3125242"/>
            <a:ext cx="3101370" cy="104775"/>
          </a:xfrm>
          <a:prstGeom prst="rect">
            <a:avLst/>
          </a:prstGeom>
          <a:noFill/>
          <a:ln/>
        </p:spPr>
        <p:txBody>
          <a:bodyPr wrap="square" lIns="0" tIns="0" rIns="0" bIns="0" rtlCol="0" anchor="t"/>
          <a:lstStyle/>
          <a:p>
            <a:pPr marL="0" indent="0" algn="l">
              <a:spcBef>
                <a:spcPts val="600"/>
              </a:spcBef>
              <a:buNone/>
            </a:pPr>
            <a:r>
              <a:rPr lang="en-US" sz="750" b="1" dirty="0">
                <a:solidFill>
                  <a:srgbClr val="2E8B8B"/>
                </a:solidFill>
                <a:latin typeface="Arial" pitchFamily="34" charset="0"/>
                <a:ea typeface="Arial" pitchFamily="34" charset="-122"/>
                <a:cs typeface="Arial" pitchFamily="34" charset="-120"/>
              </a:rPr>
              <a:t>Example:</a:t>
            </a:r>
            <a:endParaRPr lang="en-US" sz="750" dirty="0"/>
          </a:p>
        </p:txBody>
      </p:sp>
      <p:sp>
        <p:nvSpPr>
          <p:cNvPr id="20" name="Text 18"/>
          <p:cNvSpPr/>
          <p:nvPr/>
        </p:nvSpPr>
        <p:spPr>
          <a:xfrm>
            <a:off x="5678091" y="3255318"/>
            <a:ext cx="3101370" cy="248543"/>
          </a:xfrm>
          <a:prstGeom prst="rect">
            <a:avLst/>
          </a:prstGeom>
          <a:noFill/>
          <a:ln/>
        </p:spPr>
        <p:txBody>
          <a:bodyPr wrap="square" lIns="0" tIns="0" rIns="0" bIns="0" rtlCol="0" anchor="t"/>
          <a:lstStyle/>
          <a:p>
            <a:pPr marL="0" indent="0" algn="l">
              <a:lnSpc>
                <a:spcPts val="980"/>
              </a:lnSpc>
              <a:spcBef>
                <a:spcPts val="200"/>
              </a:spcBef>
              <a:buNone/>
            </a:pPr>
            <a:r>
              <a:rPr lang="en-US" sz="700" dirty="0">
                <a:solidFill>
                  <a:srgbClr val="374151"/>
                </a:solidFill>
                <a:latin typeface="Arial" pitchFamily="34" charset="0"/>
                <a:ea typeface="Arial" pitchFamily="34" charset="-122"/>
                <a:cs typeface="Arial" pitchFamily="34" charset="-120"/>
              </a:rPr>
              <a:t>NRF2/KEAP1 at L2 → grounded by syn205590 (Nrf2 KO mouse) → upgradeable to L3</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Proposed Collaboration: 3 Phases, 12 Weeks</a:t>
            </a:r>
            <a:endParaRPr lang="en-US" sz="2200" dirty="0"/>
          </a:p>
        </p:txBody>
      </p:sp>
      <p:sp>
        <p:nvSpPr>
          <p:cNvPr id="4" name="Text 2"/>
          <p:cNvSpPr/>
          <p:nvPr/>
        </p:nvSpPr>
        <p:spPr>
          <a:xfrm>
            <a:off x="355550" y="1091803"/>
            <a:ext cx="2709416" cy="3873996"/>
          </a:xfrm>
          <a:prstGeom prst="roundRect">
            <a:avLst>
              <a:gd name="adj" fmla="val 2812"/>
            </a:avLst>
          </a:prstGeom>
          <a:noFill/>
          <a:ln w="19050">
            <a:solidFill>
              <a:srgbClr val="2E8B8B"/>
            </a:solidFill>
          </a:ln>
        </p:spPr>
        <p:txBody>
          <a:bodyPr wrap="square" rtlCol="0" anchor="ctr"/>
          <a:lstStyle/>
          <a:p>
            <a:pPr marL="0" indent="0">
              <a:buNone/>
            </a:pPr>
            <a:endParaRPr lang="en-US" dirty="0"/>
          </a:p>
        </p:txBody>
      </p:sp>
      <p:sp>
        <p:nvSpPr>
          <p:cNvPr id="5" name="Text 3"/>
          <p:cNvSpPr/>
          <p:nvPr/>
        </p:nvSpPr>
        <p:spPr>
          <a:xfrm>
            <a:off x="501551" y="1237804"/>
            <a:ext cx="2417415" cy="215801"/>
          </a:xfrm>
          <a:prstGeom prst="roundRect">
            <a:avLst>
              <a:gd name="adj" fmla="val 17655"/>
            </a:avLst>
          </a:prstGeom>
          <a:solidFill>
            <a:srgbClr val="2E8B8B"/>
          </a:solidFill>
          <a:ln/>
        </p:spPr>
        <p:txBody>
          <a:bodyPr wrap="square" rtlCol="0" anchor="ctr"/>
          <a:lstStyle/>
          <a:p>
            <a:pPr marL="0" indent="0">
              <a:buNone/>
            </a:pPr>
            <a:endParaRPr lang="en-US" dirty="0"/>
          </a:p>
        </p:txBody>
      </p:sp>
      <p:sp>
        <p:nvSpPr>
          <p:cNvPr id="6" name="Text 4"/>
          <p:cNvSpPr/>
          <p:nvPr/>
        </p:nvSpPr>
        <p:spPr>
          <a:xfrm>
            <a:off x="580907" y="1288554"/>
            <a:ext cx="2258702"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Phase 1: Proof of Concept</a:t>
            </a:r>
            <a:endParaRPr lang="en-US" sz="800" dirty="0"/>
          </a:p>
        </p:txBody>
      </p:sp>
      <p:sp>
        <p:nvSpPr>
          <p:cNvPr id="7" name="Text 5"/>
          <p:cNvSpPr/>
          <p:nvPr/>
        </p:nvSpPr>
        <p:spPr>
          <a:xfrm>
            <a:off x="477377" y="1529804"/>
            <a:ext cx="2465764" cy="114300"/>
          </a:xfrm>
          <a:prstGeom prst="rect">
            <a:avLst/>
          </a:prstGeom>
          <a:noFill/>
          <a:ln/>
        </p:spPr>
        <p:txBody>
          <a:bodyPr wrap="square" lIns="0" tIns="0" rIns="0" bIns="0" rtlCol="0" anchor="t"/>
          <a:lstStyle/>
          <a:p>
            <a:pPr marL="0" indent="0" algn="ctr">
              <a:spcAft>
                <a:spcPts val="600"/>
              </a:spcAft>
              <a:buNone/>
            </a:pPr>
            <a:r>
              <a:rPr lang="en-US" sz="800" b="1" dirty="0">
                <a:solidFill>
                  <a:srgbClr val="6B7280"/>
                </a:solidFill>
                <a:latin typeface="Arial" pitchFamily="34" charset="0"/>
                <a:ea typeface="Arial" pitchFamily="34" charset="-122"/>
                <a:cs typeface="Arial" pitchFamily="34" charset="-120"/>
              </a:rPr>
              <a:t>Weeks 1-4</a:t>
            </a:r>
            <a:endParaRPr lang="en-US" sz="800" dirty="0"/>
          </a:p>
        </p:txBody>
      </p:sp>
      <p:sp>
        <p:nvSpPr>
          <p:cNvPr id="8" name="Text 6"/>
          <p:cNvSpPr/>
          <p:nvPr/>
        </p:nvSpPr>
        <p:spPr>
          <a:xfrm>
            <a:off x="501551" y="1720304"/>
            <a:ext cx="2417415" cy="3099495"/>
          </a:xfrm>
          <a:prstGeom prst="rect">
            <a:avLst/>
          </a:prstGeom>
          <a:noFill/>
          <a:ln/>
        </p:spPr>
        <p:txBody>
          <a:bodyPr wrap="square" lIns="76200" tIns="0" rIns="0" bIns="0" rtlCol="0" anchor="t"/>
          <a:lstStyle/>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Run 3-5 NF1-relevant benchmarks end-to-end</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Evaluate against 10-dimension quality framework</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Validate Synapse grounding on NF1 datasets</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Deliverable: Quality report + knowledge graphs</a:t>
            </a:r>
            <a:endParaRPr lang="en-US" sz="750" dirty="0"/>
          </a:p>
        </p:txBody>
      </p:sp>
      <p:sp>
        <p:nvSpPr>
          <p:cNvPr id="9" name="Text 7"/>
          <p:cNvSpPr/>
          <p:nvPr/>
        </p:nvSpPr>
        <p:spPr>
          <a:xfrm>
            <a:off x="3217366" y="1091803"/>
            <a:ext cx="2709416" cy="3873996"/>
          </a:xfrm>
          <a:prstGeom prst="roundRect">
            <a:avLst>
              <a:gd name="adj" fmla="val 2812"/>
            </a:avLst>
          </a:prstGeom>
          <a:noFill/>
          <a:ln w="19050">
            <a:solidFill>
              <a:srgbClr val="2E8B8B"/>
            </a:solidFill>
          </a:ln>
        </p:spPr>
        <p:txBody>
          <a:bodyPr wrap="square" rtlCol="0" anchor="ctr"/>
          <a:lstStyle/>
          <a:p>
            <a:pPr marL="0" indent="0">
              <a:buNone/>
            </a:pPr>
            <a:endParaRPr lang="en-US" dirty="0"/>
          </a:p>
        </p:txBody>
      </p:sp>
      <p:sp>
        <p:nvSpPr>
          <p:cNvPr id="10" name="Text 8"/>
          <p:cNvSpPr/>
          <p:nvPr/>
        </p:nvSpPr>
        <p:spPr>
          <a:xfrm>
            <a:off x="3363367" y="1237804"/>
            <a:ext cx="2417415" cy="215801"/>
          </a:xfrm>
          <a:prstGeom prst="roundRect">
            <a:avLst>
              <a:gd name="adj" fmla="val 17655"/>
            </a:avLst>
          </a:prstGeom>
          <a:solidFill>
            <a:srgbClr val="2E8B8B"/>
          </a:solidFill>
          <a:ln/>
        </p:spPr>
        <p:txBody>
          <a:bodyPr wrap="square" rtlCol="0" anchor="ctr"/>
          <a:lstStyle/>
          <a:p>
            <a:pPr marL="0" indent="0">
              <a:buNone/>
            </a:pPr>
            <a:endParaRPr lang="en-US" dirty="0"/>
          </a:p>
        </p:txBody>
      </p:sp>
      <p:sp>
        <p:nvSpPr>
          <p:cNvPr id="11" name="Text 9"/>
          <p:cNvSpPr/>
          <p:nvPr/>
        </p:nvSpPr>
        <p:spPr>
          <a:xfrm>
            <a:off x="3442723" y="1288554"/>
            <a:ext cx="2258702"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Phase 2: Benchmark Expansion</a:t>
            </a:r>
            <a:endParaRPr lang="en-US" sz="800" dirty="0"/>
          </a:p>
        </p:txBody>
      </p:sp>
      <p:sp>
        <p:nvSpPr>
          <p:cNvPr id="12" name="Text 10"/>
          <p:cNvSpPr/>
          <p:nvPr/>
        </p:nvSpPr>
        <p:spPr>
          <a:xfrm>
            <a:off x="3339193" y="1529804"/>
            <a:ext cx="2465764" cy="114300"/>
          </a:xfrm>
          <a:prstGeom prst="rect">
            <a:avLst/>
          </a:prstGeom>
          <a:noFill/>
          <a:ln/>
        </p:spPr>
        <p:txBody>
          <a:bodyPr wrap="square" lIns="0" tIns="0" rIns="0" bIns="0" rtlCol="0" anchor="t"/>
          <a:lstStyle/>
          <a:p>
            <a:pPr marL="0" indent="0" algn="ctr">
              <a:spcAft>
                <a:spcPts val="600"/>
              </a:spcAft>
              <a:buNone/>
            </a:pPr>
            <a:r>
              <a:rPr lang="en-US" sz="800" b="1" dirty="0">
                <a:solidFill>
                  <a:srgbClr val="6B7280"/>
                </a:solidFill>
                <a:latin typeface="Arial" pitchFamily="34" charset="0"/>
                <a:ea typeface="Arial" pitchFamily="34" charset="-122"/>
                <a:cs typeface="Arial" pitchFamily="34" charset="-120"/>
              </a:rPr>
              <a:t>Weeks 5-8</a:t>
            </a:r>
            <a:endParaRPr lang="en-US" sz="800" dirty="0"/>
          </a:p>
        </p:txBody>
      </p:sp>
      <p:sp>
        <p:nvSpPr>
          <p:cNvPr id="13" name="Text 11"/>
          <p:cNvSpPr/>
          <p:nvPr/>
        </p:nvSpPr>
        <p:spPr>
          <a:xfrm>
            <a:off x="3363367" y="1720304"/>
            <a:ext cx="2417415" cy="3099495"/>
          </a:xfrm>
          <a:prstGeom prst="rect">
            <a:avLst/>
          </a:prstGeom>
          <a:noFill/>
          <a:ln/>
        </p:spPr>
        <p:txBody>
          <a:bodyPr wrap="square" lIns="76200" tIns="0" rIns="0" bIns="0" rtlCol="0" anchor="t"/>
          <a:lstStyle/>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Co-develop 5-10 Sage-specific competency questions</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Add Synapse-native data sources to API orchestration</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Train evidence grading on Sage domain expertise</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Deliverable: Expanded catalog + Synapse integration spec</a:t>
            </a:r>
            <a:endParaRPr lang="en-US" sz="750" dirty="0"/>
          </a:p>
        </p:txBody>
      </p:sp>
      <p:sp>
        <p:nvSpPr>
          <p:cNvPr id="14" name="Text 12"/>
          <p:cNvSpPr/>
          <p:nvPr/>
        </p:nvSpPr>
        <p:spPr>
          <a:xfrm>
            <a:off x="6079182" y="1091803"/>
            <a:ext cx="2709416" cy="3873996"/>
          </a:xfrm>
          <a:prstGeom prst="roundRect">
            <a:avLst>
              <a:gd name="adj" fmla="val 2812"/>
            </a:avLst>
          </a:prstGeom>
          <a:noFill/>
          <a:ln w="19050">
            <a:solidFill>
              <a:srgbClr val="2E8B8B"/>
            </a:solidFill>
          </a:ln>
        </p:spPr>
        <p:txBody>
          <a:bodyPr wrap="square" rtlCol="0" anchor="ctr"/>
          <a:lstStyle/>
          <a:p>
            <a:pPr marL="0" indent="0">
              <a:buNone/>
            </a:pPr>
            <a:endParaRPr lang="en-US" dirty="0"/>
          </a:p>
        </p:txBody>
      </p:sp>
      <p:sp>
        <p:nvSpPr>
          <p:cNvPr id="15" name="Text 13"/>
          <p:cNvSpPr/>
          <p:nvPr/>
        </p:nvSpPr>
        <p:spPr>
          <a:xfrm>
            <a:off x="6225183" y="1237804"/>
            <a:ext cx="2417415" cy="215801"/>
          </a:xfrm>
          <a:prstGeom prst="roundRect">
            <a:avLst>
              <a:gd name="adj" fmla="val 17655"/>
            </a:avLst>
          </a:prstGeom>
          <a:solidFill>
            <a:srgbClr val="2E8B8B"/>
          </a:solidFill>
          <a:ln/>
        </p:spPr>
        <p:txBody>
          <a:bodyPr wrap="square" rtlCol="0" anchor="ctr"/>
          <a:lstStyle/>
          <a:p>
            <a:pPr marL="0" indent="0">
              <a:buNone/>
            </a:pPr>
            <a:endParaRPr lang="en-US" dirty="0"/>
          </a:p>
        </p:txBody>
      </p:sp>
      <p:sp>
        <p:nvSpPr>
          <p:cNvPr id="16" name="Text 14"/>
          <p:cNvSpPr/>
          <p:nvPr/>
        </p:nvSpPr>
        <p:spPr>
          <a:xfrm>
            <a:off x="6304539" y="1288554"/>
            <a:ext cx="2258702" cy="114300"/>
          </a:xfrm>
          <a:prstGeom prst="rect">
            <a:avLst/>
          </a:prstGeom>
          <a:noFill/>
          <a:ln/>
        </p:spPr>
        <p:txBody>
          <a:bodyPr wrap="square" lIns="0" tIns="0" rIns="0" bIns="0" rtlCol="0" anchor="t"/>
          <a:lstStyle/>
          <a:p>
            <a:pPr marL="0" indent="0" algn="ctr">
              <a:buNone/>
            </a:pPr>
            <a:r>
              <a:rPr lang="en-US" sz="800" b="1" dirty="0">
                <a:solidFill>
                  <a:srgbClr val="FFFFFF"/>
                </a:solidFill>
                <a:latin typeface="Arial" pitchFamily="34" charset="0"/>
                <a:ea typeface="Arial" pitchFamily="34" charset="-122"/>
                <a:cs typeface="Arial" pitchFamily="34" charset="-120"/>
              </a:rPr>
              <a:t>Phase 3: Integration Pilot</a:t>
            </a:r>
            <a:endParaRPr lang="en-US" sz="800" dirty="0"/>
          </a:p>
        </p:txBody>
      </p:sp>
      <p:sp>
        <p:nvSpPr>
          <p:cNvPr id="17" name="Text 15"/>
          <p:cNvSpPr/>
          <p:nvPr/>
        </p:nvSpPr>
        <p:spPr>
          <a:xfrm>
            <a:off x="6201009" y="1529804"/>
            <a:ext cx="2465764" cy="114300"/>
          </a:xfrm>
          <a:prstGeom prst="rect">
            <a:avLst/>
          </a:prstGeom>
          <a:noFill/>
          <a:ln/>
        </p:spPr>
        <p:txBody>
          <a:bodyPr wrap="square" lIns="0" tIns="0" rIns="0" bIns="0" rtlCol="0" anchor="t"/>
          <a:lstStyle/>
          <a:p>
            <a:pPr marL="0" indent="0" algn="ctr">
              <a:spcAft>
                <a:spcPts val="600"/>
              </a:spcAft>
              <a:buNone/>
            </a:pPr>
            <a:r>
              <a:rPr lang="en-US" sz="800" b="1" dirty="0">
                <a:solidFill>
                  <a:srgbClr val="6B7280"/>
                </a:solidFill>
                <a:latin typeface="Arial" pitchFamily="34" charset="0"/>
                <a:ea typeface="Arial" pitchFamily="34" charset="-122"/>
                <a:cs typeface="Arial" pitchFamily="34" charset="-120"/>
              </a:rPr>
              <a:t>Weeks 9-12</a:t>
            </a:r>
            <a:endParaRPr lang="en-US" sz="800" dirty="0"/>
          </a:p>
        </p:txBody>
      </p:sp>
      <p:sp>
        <p:nvSpPr>
          <p:cNvPr id="18" name="Text 16"/>
          <p:cNvSpPr/>
          <p:nvPr/>
        </p:nvSpPr>
        <p:spPr>
          <a:xfrm>
            <a:off x="6225183" y="1720304"/>
            <a:ext cx="2417415" cy="3099495"/>
          </a:xfrm>
          <a:prstGeom prst="rect">
            <a:avLst/>
          </a:prstGeom>
          <a:noFill/>
          <a:ln/>
        </p:spPr>
        <p:txBody>
          <a:bodyPr wrap="square" lIns="76200" tIns="0" rIns="0" bIns="0" rtlCol="0" anchor="t"/>
          <a:lstStyle/>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Deploy platform for 3-5 Sage researchers</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Collect structured feedback on usability and accuracy</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Measure: time-to-insight, evidence quality, coverage</a:t>
            </a:r>
            <a:endParaRPr lang="en-US" sz="750" dirty="0"/>
          </a:p>
          <a:p>
            <a:pPr marL="76200" indent="-76200" algn="l">
              <a:lnSpc>
                <a:spcPts val="1200"/>
              </a:lnSpc>
              <a:buSzPct val="100000"/>
              <a:buChar char="•"/>
            </a:pPr>
            <a:r>
              <a:rPr lang="en-US" sz="750" dirty="0">
                <a:solidFill>
                  <a:srgbClr val="374151"/>
                </a:solidFill>
                <a:latin typeface="Arial" pitchFamily="34" charset="0"/>
                <a:ea typeface="Arial" pitchFamily="34" charset="-122"/>
                <a:cs typeface="Arial" pitchFamily="34" charset="-120"/>
              </a:rPr>
              <a:t>Deliverable: Pilot report + roadmap for 2026 H2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914102"/>
          </a:xfrm>
          <a:prstGeom prst="rect">
            <a:avLst/>
          </a:prstGeom>
          <a:solidFill>
            <a:srgbClr val="1B2A4A"/>
          </a:solidFill>
          <a:ln/>
        </p:spPr>
        <p:txBody>
          <a:bodyPr wrap="square" rtlCol="0" anchor="ctr"/>
          <a:lstStyle/>
          <a:p>
            <a:pPr marL="0" indent="0">
              <a:buNone/>
            </a:pPr>
            <a:endParaRPr lang="en-US" dirty="0"/>
          </a:p>
        </p:txBody>
      </p:sp>
      <p:sp>
        <p:nvSpPr>
          <p:cNvPr id="3" name="Text 1"/>
          <p:cNvSpPr/>
          <p:nvPr/>
        </p:nvSpPr>
        <p:spPr>
          <a:xfrm>
            <a:off x="355550" y="177701"/>
            <a:ext cx="8601557" cy="323850"/>
          </a:xfrm>
          <a:prstGeom prst="rect">
            <a:avLst/>
          </a:prstGeom>
          <a:noFill/>
          <a:ln/>
        </p:spPr>
        <p:txBody>
          <a:bodyPr wrap="square" lIns="0" tIns="0" rIns="0" bIns="0" rtlCol="0" anchor="t"/>
          <a:lstStyle/>
          <a:p>
            <a:pPr marL="0" indent="0" algn="l">
              <a:buNone/>
            </a:pPr>
            <a:r>
              <a:rPr lang="en-US" sz="2200" b="1" dirty="0">
                <a:solidFill>
                  <a:srgbClr val="FFFFFF"/>
                </a:solidFill>
                <a:latin typeface="Arial" pitchFamily="34" charset="0"/>
                <a:ea typeface="Arial" pitchFamily="34" charset="-122"/>
                <a:cs typeface="Arial" pitchFamily="34" charset="-120"/>
              </a:rPr>
              <a:t>Proposed Next Meeting Agenda</a:t>
            </a:r>
            <a:endParaRPr lang="en-US" sz="2200" dirty="0"/>
          </a:p>
        </p:txBody>
      </p:sp>
      <p:sp>
        <p:nvSpPr>
          <p:cNvPr id="4" name="Text 2"/>
          <p:cNvSpPr/>
          <p:nvPr/>
        </p:nvSpPr>
        <p:spPr>
          <a:xfrm>
            <a:off x="271221" y="4902250"/>
            <a:ext cx="8601557" cy="114300"/>
          </a:xfrm>
          <a:prstGeom prst="rect">
            <a:avLst/>
          </a:prstGeom>
          <a:noFill/>
          <a:ln/>
        </p:spPr>
        <p:txBody>
          <a:bodyPr wrap="square" lIns="0" tIns="0" rIns="0" bIns="0" rtlCol="0" anchor="t"/>
          <a:lstStyle/>
          <a:p>
            <a:pPr marL="0" indent="0" algn="ctr">
              <a:buNone/>
            </a:pPr>
            <a:r>
              <a:rPr lang="en-US" sz="800" dirty="0">
                <a:solidFill>
                  <a:srgbClr val="6B7280"/>
                </a:solidFill>
                <a:latin typeface="Arial" pitchFamily="34" charset="0"/>
                <a:ea typeface="Arial" pitchFamily="34" charset="-122"/>
                <a:cs typeface="Arial" pitchFamily="34" charset="-120"/>
              </a:rPr>
              <a:t>Flexible format — happy to adjust based on Sage's priorities and available time</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55550" y="1041053"/>
          <a:ext cx="7680960" cy="2377440"/>
        </p:xfrm>
        <a:graphic>
          <a:graphicData uri="http://schemas.openxmlformats.org/drawingml/2006/table">
            <a:tbl>
              <a:tblPr/>
              <a:tblGrid>
                <a:gridCol w="7315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65760">
                <a:tc>
                  <a:txBody>
                    <a:bodyPr/>
                    <a:lstStyle/>
                    <a:p>
                      <a:pPr marL="0" indent="0">
                        <a:buNone/>
                      </a:pPr>
                      <a:r>
                        <a:rPr lang="en-US" sz="900" b="1" dirty="0">
                          <a:solidFill>
                            <a:srgbClr val="FFFFFF"/>
                          </a:solidFill>
                        </a:rPr>
                        <a:t>Section</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rPr>
                        <a:t>Topic</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Time</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Lead</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buNone/>
                      </a:pPr>
                      <a:r>
                        <a:rPr lang="en-US" sz="900" dirty="0">
                          <a:solidFill>
                            <a:srgbClr val="000000"/>
                          </a:solidFill>
                        </a:rPr>
                        <a:t>1</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Review this deck + Q&amp;A on platform capabilities</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20 min</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Don B.</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900" dirty="0">
                          <a:solidFill>
                            <a:srgbClr val="000000"/>
                          </a:solidFill>
                        </a:rPr>
                        <a:t>2</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Sage priorities: Which NF1 questions matter most?</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20 min</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Sage team</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900" dirty="0">
                          <a:solidFill>
                            <a:srgbClr val="000000"/>
                          </a:solidFill>
                        </a:rPr>
                        <a:t>3</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Live demo: Run one Sage-chosen question through the protocol</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25 min</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Don B.</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900" dirty="0">
                          <a:solidFill>
                            <a:srgbClr val="000000"/>
                          </a:solidFill>
                        </a:rPr>
                        <a:t>4</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Discuss collaboration framework + next steps</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15 min</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900" dirty="0">
                          <a:solidFill>
                            <a:srgbClr val="000000"/>
                          </a:solidFill>
                        </a:rPr>
                        <a:t>Joint</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8B8B"/>
                    </a:solidFill>
                  </a:tcPr>
                </a:tc>
                <a:tc>
                  <a:txBody>
                    <a:bodyPr/>
                    <a:lstStyle/>
                    <a:p>
                      <a:pPr marL="0" indent="0">
                        <a:buNone/>
                      </a:pPr>
                      <a:r>
                        <a:rPr lang="en-US" sz="900" b="1" dirty="0">
                          <a:solidFill>
                            <a:srgbClr val="FFFFFF"/>
                          </a:solidFill>
                        </a:rPr>
                        <a:t>Total</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8B8B"/>
                    </a:solidFill>
                  </a:tcPr>
                </a:tc>
                <a:tc>
                  <a:txBody>
                    <a:bodyPr/>
                    <a:lstStyle/>
                    <a:p>
                      <a:pPr marL="0" indent="0" algn="ctr">
                        <a:buNone/>
                      </a:pPr>
                      <a:r>
                        <a:rPr lang="en-US" sz="900" b="1" dirty="0">
                          <a:solidFill>
                            <a:srgbClr val="FFFFFF"/>
                          </a:solidFill>
                        </a:rPr>
                        <a:t>80 min</a:t>
                      </a: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8B8B"/>
                    </a:solidFill>
                  </a:tcPr>
                </a:tc>
                <a:tc>
                  <a:txBody>
                    <a:bodyPr/>
                    <a:lstStyle/>
                    <a:p>
                      <a:pPr marL="0" indent="0">
                        <a:buNone/>
                      </a:pPr>
                      <a:endParaRPr lang="en-US" sz="9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8B8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531986" y="1470124"/>
            <a:ext cx="2080028" cy="466725"/>
          </a:xfrm>
          <a:prstGeom prst="rect">
            <a:avLst/>
          </a:prstGeom>
          <a:noFill/>
          <a:ln/>
        </p:spPr>
        <p:txBody>
          <a:bodyPr wrap="square" lIns="0" tIns="0" rIns="0" bIns="0" rtlCol="0" anchor="t"/>
          <a:lstStyle/>
          <a:p>
            <a:pPr marL="0" indent="0" algn="ctr">
              <a:spcAft>
                <a:spcPts val="600"/>
              </a:spcAft>
              <a:buNone/>
            </a:pPr>
            <a:r>
              <a:rPr lang="en-US" sz="3200" b="1" dirty="0">
                <a:solidFill>
                  <a:srgbClr val="FFFFFF"/>
                </a:solidFill>
                <a:latin typeface="Arial" pitchFamily="34" charset="0"/>
                <a:ea typeface="Arial" pitchFamily="34" charset="-122"/>
                <a:cs typeface="Arial" pitchFamily="34" charset="-120"/>
              </a:rPr>
              <a:t>Thank You</a:t>
            </a:r>
            <a:endParaRPr lang="en-US" sz="3200" dirty="0"/>
          </a:p>
        </p:txBody>
      </p:sp>
      <p:sp>
        <p:nvSpPr>
          <p:cNvPr id="3" name="Text 1"/>
          <p:cNvSpPr/>
          <p:nvPr/>
        </p:nvSpPr>
        <p:spPr>
          <a:xfrm>
            <a:off x="4191000" y="2013049"/>
            <a:ext cx="762000" cy="38100"/>
          </a:xfrm>
          <a:prstGeom prst="rect">
            <a:avLst/>
          </a:prstGeom>
          <a:solidFill>
            <a:srgbClr val="2E8B8B"/>
          </a:solidFill>
          <a:ln/>
        </p:spPr>
        <p:txBody>
          <a:bodyPr wrap="square" rtlCol="0" anchor="ctr"/>
          <a:lstStyle/>
          <a:p>
            <a:pPr marL="0" indent="0">
              <a:buNone/>
            </a:pPr>
            <a:endParaRPr lang="en-US" dirty="0"/>
          </a:p>
        </p:txBody>
      </p:sp>
      <p:sp>
        <p:nvSpPr>
          <p:cNvPr id="4" name="Text 2"/>
          <p:cNvSpPr/>
          <p:nvPr/>
        </p:nvSpPr>
        <p:spPr>
          <a:xfrm>
            <a:off x="2609317" y="2228850"/>
            <a:ext cx="3925366" cy="200025"/>
          </a:xfrm>
          <a:prstGeom prst="rect">
            <a:avLst/>
          </a:prstGeom>
          <a:noFill/>
          <a:ln/>
        </p:spPr>
        <p:txBody>
          <a:bodyPr wrap="square" lIns="0" tIns="0" rIns="0" bIns="0" rtlCol="0" anchor="t"/>
          <a:lstStyle/>
          <a:p>
            <a:pPr marL="0" indent="0" algn="ctr">
              <a:spcBef>
                <a:spcPts val="1400"/>
              </a:spcBef>
              <a:spcAft>
                <a:spcPts val="2000"/>
              </a:spcAft>
              <a:buNone/>
            </a:pPr>
            <a:r>
              <a:rPr lang="en-US" sz="1300" dirty="0">
                <a:solidFill>
                  <a:srgbClr val="94A3B8"/>
                </a:solidFill>
                <a:latin typeface="Arial" pitchFamily="34" charset="0"/>
                <a:ea typeface="Arial" pitchFamily="34" charset="-122"/>
                <a:cs typeface="Arial" pitchFamily="34" charset="-120"/>
              </a:rPr>
              <a:t>Let's build the baseline for life sciences AI evaluation</a:t>
            </a:r>
            <a:endParaRPr lang="en-US" sz="1300" dirty="0"/>
          </a:p>
        </p:txBody>
      </p:sp>
      <p:sp>
        <p:nvSpPr>
          <p:cNvPr id="5" name="Text 3"/>
          <p:cNvSpPr/>
          <p:nvPr/>
        </p:nvSpPr>
        <p:spPr>
          <a:xfrm>
            <a:off x="2334769" y="2809726"/>
            <a:ext cx="1249504" cy="114300"/>
          </a:xfrm>
          <a:prstGeom prst="rect">
            <a:avLst/>
          </a:prstGeom>
          <a:noFill/>
          <a:ln/>
        </p:spPr>
        <p:txBody>
          <a:bodyPr wrap="square" lIns="0" tIns="0" rIns="0" bIns="0" rtlCol="0" anchor="t"/>
          <a:lstStyle/>
          <a:p>
            <a:pPr marL="0" indent="0" algn="ctr">
              <a:spcAft>
                <a:spcPts val="300"/>
              </a:spcAft>
              <a:buNone/>
            </a:pPr>
            <a:r>
              <a:rPr lang="en-US" sz="800" b="1" dirty="0">
                <a:solidFill>
                  <a:srgbClr val="2E8B8B"/>
                </a:solidFill>
                <a:latin typeface="Arial" pitchFamily="34" charset="0"/>
                <a:ea typeface="Arial" pitchFamily="34" charset="-122"/>
                <a:cs typeface="Arial" pitchFamily="34" charset="-120"/>
              </a:rPr>
              <a:t>Benchmark Catalog</a:t>
            </a:r>
            <a:endParaRPr lang="en-US" sz="800" dirty="0"/>
          </a:p>
        </p:txBody>
      </p:sp>
      <p:sp>
        <p:nvSpPr>
          <p:cNvPr id="6" name="Text 4"/>
          <p:cNvSpPr/>
          <p:nvPr/>
        </p:nvSpPr>
        <p:spPr>
          <a:xfrm>
            <a:off x="2334769" y="2962126"/>
            <a:ext cx="1249504" cy="95250"/>
          </a:xfrm>
          <a:prstGeom prst="rect">
            <a:avLst/>
          </a:prstGeom>
          <a:noFill/>
          <a:ln/>
        </p:spPr>
        <p:txBody>
          <a:bodyPr wrap="square" lIns="0" tIns="0" rIns="0" bIns="0" rtlCol="0" anchor="t"/>
          <a:lstStyle/>
          <a:p>
            <a:pPr marL="0" indent="0" algn="ctr">
              <a:buNone/>
            </a:pPr>
            <a:r>
              <a:rPr lang="en-US" sz="700" dirty="0">
                <a:solidFill>
                  <a:srgbClr val="94A3B8"/>
                </a:solidFill>
                <a:latin typeface="Arial" pitchFamily="34" charset="0"/>
                <a:ea typeface="Arial" pitchFamily="34" charset="-122"/>
                <a:cs typeface="Arial" pitchFamily="34" charset="-120"/>
              </a:rPr>
              <a:t>15 questions across 8 domains</a:t>
            </a:r>
            <a:endParaRPr lang="en-US" sz="700" dirty="0"/>
          </a:p>
        </p:txBody>
      </p:sp>
      <p:sp>
        <p:nvSpPr>
          <p:cNvPr id="7" name="Text 5"/>
          <p:cNvSpPr/>
          <p:nvPr/>
        </p:nvSpPr>
        <p:spPr>
          <a:xfrm>
            <a:off x="3814859" y="2809726"/>
            <a:ext cx="1128668" cy="114300"/>
          </a:xfrm>
          <a:prstGeom prst="rect">
            <a:avLst/>
          </a:prstGeom>
          <a:noFill/>
          <a:ln/>
        </p:spPr>
        <p:txBody>
          <a:bodyPr wrap="square" lIns="0" tIns="0" rIns="0" bIns="0" rtlCol="0" anchor="t"/>
          <a:lstStyle/>
          <a:p>
            <a:pPr marL="0" indent="0" algn="ctr">
              <a:spcAft>
                <a:spcPts val="300"/>
              </a:spcAft>
              <a:buNone/>
            </a:pPr>
            <a:r>
              <a:rPr lang="en-US" sz="800" b="1" dirty="0">
                <a:solidFill>
                  <a:srgbClr val="2E8B8B"/>
                </a:solidFill>
                <a:latin typeface="Arial" pitchFamily="34" charset="0"/>
                <a:ea typeface="Arial" pitchFamily="34" charset="-122"/>
                <a:cs typeface="Arial" pitchFamily="34" charset="-120"/>
              </a:rPr>
              <a:t>Quality Framework</a:t>
            </a:r>
            <a:endParaRPr lang="en-US" sz="800" dirty="0"/>
          </a:p>
        </p:txBody>
      </p:sp>
      <p:sp>
        <p:nvSpPr>
          <p:cNvPr id="8" name="Text 6"/>
          <p:cNvSpPr/>
          <p:nvPr/>
        </p:nvSpPr>
        <p:spPr>
          <a:xfrm>
            <a:off x="3814859" y="2962126"/>
            <a:ext cx="1128668" cy="95250"/>
          </a:xfrm>
          <a:prstGeom prst="rect">
            <a:avLst/>
          </a:prstGeom>
          <a:noFill/>
          <a:ln/>
        </p:spPr>
        <p:txBody>
          <a:bodyPr wrap="square" lIns="0" tIns="0" rIns="0" bIns="0" rtlCol="0" anchor="t"/>
          <a:lstStyle/>
          <a:p>
            <a:pPr marL="0" indent="0" algn="ctr">
              <a:buNone/>
            </a:pPr>
            <a:r>
              <a:rPr lang="en-US" sz="700" dirty="0">
                <a:solidFill>
                  <a:srgbClr val="94A3B8"/>
                </a:solidFill>
                <a:latin typeface="Arial" pitchFamily="34" charset="0"/>
                <a:ea typeface="Arial" pitchFamily="34" charset="-122"/>
                <a:cs typeface="Arial" pitchFamily="34" charset="-120"/>
              </a:rPr>
              <a:t>10-dimension L1-L4 grading</a:t>
            </a:r>
            <a:endParaRPr lang="en-US" sz="700" dirty="0"/>
          </a:p>
        </p:txBody>
      </p:sp>
      <p:sp>
        <p:nvSpPr>
          <p:cNvPr id="9" name="Text 7"/>
          <p:cNvSpPr/>
          <p:nvPr/>
        </p:nvSpPr>
        <p:spPr>
          <a:xfrm>
            <a:off x="5170258" y="2809726"/>
            <a:ext cx="1642679" cy="114300"/>
          </a:xfrm>
          <a:prstGeom prst="rect">
            <a:avLst/>
          </a:prstGeom>
          <a:noFill/>
          <a:ln/>
        </p:spPr>
        <p:txBody>
          <a:bodyPr wrap="square" lIns="0" tIns="0" rIns="0" bIns="0" rtlCol="0" anchor="t"/>
          <a:lstStyle/>
          <a:p>
            <a:pPr marL="0" indent="0" algn="ctr">
              <a:spcAft>
                <a:spcPts val="300"/>
              </a:spcAft>
              <a:buNone/>
            </a:pPr>
            <a:r>
              <a:rPr lang="en-US" sz="800" b="1" dirty="0">
                <a:solidFill>
                  <a:srgbClr val="2E8B8B"/>
                </a:solidFill>
                <a:latin typeface="Arial" pitchFamily="34" charset="0"/>
                <a:ea typeface="Arial" pitchFamily="34" charset="-122"/>
                <a:cs typeface="Arial" pitchFamily="34" charset="-120"/>
              </a:rPr>
              <a:t>NF1 Case Study</a:t>
            </a:r>
            <a:endParaRPr lang="en-US" sz="800" dirty="0"/>
          </a:p>
        </p:txBody>
      </p:sp>
      <p:sp>
        <p:nvSpPr>
          <p:cNvPr id="10" name="Text 8"/>
          <p:cNvSpPr/>
          <p:nvPr/>
        </p:nvSpPr>
        <p:spPr>
          <a:xfrm>
            <a:off x="5170258" y="2962126"/>
            <a:ext cx="1642679" cy="95250"/>
          </a:xfrm>
          <a:prstGeom prst="rect">
            <a:avLst/>
          </a:prstGeom>
          <a:noFill/>
          <a:ln/>
        </p:spPr>
        <p:txBody>
          <a:bodyPr wrap="square" lIns="0" tIns="0" rIns="0" bIns="0" rtlCol="0" anchor="t"/>
          <a:lstStyle/>
          <a:p>
            <a:pPr marL="0" indent="0" algn="ctr">
              <a:buNone/>
            </a:pPr>
            <a:r>
              <a:rPr lang="en-US" sz="700" dirty="0">
                <a:solidFill>
                  <a:srgbClr val="94A3B8"/>
                </a:solidFill>
                <a:latin typeface="Arial" pitchFamily="34" charset="0"/>
                <a:ea typeface="Arial" pitchFamily="34" charset="-122"/>
                <a:cs typeface="Arial" pitchFamily="34" charset="-120"/>
              </a:rPr>
              <a:t>18 nodes, 20 edges, 8 Synapse datasets</a:t>
            </a:r>
            <a:endParaRPr lang="en-US" sz="700" dirty="0"/>
          </a:p>
        </p:txBody>
      </p:sp>
      <p:sp>
        <p:nvSpPr>
          <p:cNvPr id="11" name="Text 9"/>
          <p:cNvSpPr/>
          <p:nvPr/>
        </p:nvSpPr>
        <p:spPr>
          <a:xfrm>
            <a:off x="2891219" y="3362176"/>
            <a:ext cx="3361563" cy="95250"/>
          </a:xfrm>
          <a:prstGeom prst="rect">
            <a:avLst/>
          </a:prstGeom>
          <a:noFill/>
          <a:ln/>
        </p:spPr>
        <p:txBody>
          <a:bodyPr wrap="square" lIns="0" tIns="0" rIns="0" bIns="0" rtlCol="0" anchor="t"/>
          <a:lstStyle/>
          <a:p>
            <a:pPr marL="0" indent="0" algn="ctr">
              <a:spcBef>
                <a:spcPts val="2400"/>
              </a:spcBef>
              <a:buNone/>
            </a:pPr>
            <a:r>
              <a:rPr lang="en-US" sz="700" dirty="0">
                <a:solidFill>
                  <a:srgbClr val="6B7280"/>
                </a:solidFill>
                <a:latin typeface="Arial" pitchFamily="34" charset="0"/>
                <a:ea typeface="Arial" pitchFamily="34" charset="-122"/>
                <a:cs typeface="Arial" pitchFamily="34" charset="-120"/>
              </a:rPr>
              <a:t>Built on open standards: BioLink model, CURIEs, ClinicalTrials.gov v2, Synapse.org</a:t>
            </a:r>
            <a:endParaRPr lang="en-US" sz="700" dirty="0"/>
          </a:p>
        </p:txBody>
      </p:sp>
      <p:sp>
        <p:nvSpPr>
          <p:cNvPr id="12" name="Text 10"/>
          <p:cNvSpPr/>
          <p:nvPr/>
        </p:nvSpPr>
        <p:spPr>
          <a:xfrm>
            <a:off x="3087959" y="3558927"/>
            <a:ext cx="2967933" cy="114300"/>
          </a:xfrm>
          <a:prstGeom prst="rect">
            <a:avLst/>
          </a:prstGeom>
          <a:noFill/>
          <a:ln/>
        </p:spPr>
        <p:txBody>
          <a:bodyPr wrap="square" lIns="0" tIns="0" rIns="0" bIns="0" rtlCol="0" anchor="t"/>
          <a:lstStyle/>
          <a:p>
            <a:pPr marL="0" indent="0" algn="ctr">
              <a:spcBef>
                <a:spcPts val="800"/>
              </a:spcBef>
              <a:buNone/>
            </a:pPr>
            <a:r>
              <a:rPr lang="en-US" sz="800" dirty="0">
                <a:solidFill>
                  <a:srgbClr val="64748B"/>
                </a:solidFill>
                <a:latin typeface="Arial" pitchFamily="34" charset="0"/>
                <a:ea typeface="Arial" pitchFamily="34" charset="-122"/>
                <a:cs typeface="Arial" pitchFamily="34" charset="-120"/>
              </a:rPr>
              <a:t>Don B. | LangGraph + 13 Biomedical APIs + Synapse Integration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1889</Words>
  <Application>Microsoft Office PowerPoint</Application>
  <PresentationFormat>On-screen Show (16:9)</PresentationFormat>
  <Paragraphs>309</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Structured Validation for Life Sciences AI</dc:title>
  <dc:subject>PptxGenJS Presentation</dc:subject>
  <dc:creator>Don B.</dc:creator>
  <cp:lastModifiedBy>Don Branson</cp:lastModifiedBy>
  <cp:revision>1</cp:revision>
  <dcterms:created xsi:type="dcterms:W3CDTF">2026-02-20T20:03:14Z</dcterms:created>
  <dcterms:modified xsi:type="dcterms:W3CDTF">2026-03-05T22:13:52Z</dcterms:modified>
</cp:coreProperties>
</file>